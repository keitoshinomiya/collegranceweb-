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20"/>
              </a:lnSpc>
              <a:spcAft>
                <a:spcPts val="0"/>
              </a:spcAft>
              <a:defRPr sz="5600" b="1">
                <a:solidFill>
                  <a:srgbClr val="1A1A1A"/>
                </a:solidFill>
                <a:latin typeface="Meiryo"/>
              </a:defRPr>
            </a:pPr>
            <a:r>
              <a:t>COLLEGRANCE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666666"/>
                </a:solidFill>
                <a:latin typeface="Meiryo"/>
              </a:defRPr>
            </a:pPr>
            <a:r>
              <a:t>コレグランス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3A7D44"/>
                </a:solidFill>
                <a:latin typeface="Meiryo"/>
              </a:defRPr>
            </a:pPr>
            <a:r>
              <a:t>事業計画書  2026年4月〜2027年1月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206240"/>
            <a:ext cx="2103120" cy="18288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333333"/>
                </a:solidFill>
                <a:latin typeface="Meiryo"/>
              </a:defRPr>
            </a:pPr>
            <a:r>
              <a:t>合同会社ヤシノミ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化粧品製造業・化粧品製造販売業 許可取得済み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事業概要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3A7D44"/>
                </a:solidFill>
                <a:latin typeface="Meiryo"/>
              </a:defRPr>
            </a:pPr>
            <a:r>
              <a:t>「香りはえらべる。もっと自由に。」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1A1A1A"/>
                </a:solidFill>
                <a:latin typeface="Meiryo"/>
              </a:defRPr>
            </a:pPr>
            <a:r>
              <a:t>高級ブランド香水の小分け（1.5ml）お試し販売 + フルボトル直販</a:t>
            </a:r>
          </a:p>
          <a:p>
            <a:pPr algn="ctr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Meiryo"/>
              </a:defRPr>
            </a:pPr>
          </a:p>
          <a:p>
            <a:pPr algn="ctr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130種類以上のブランド香水を取り扱い</a:t>
            </a:r>
          </a:p>
          <a:p>
            <a:pPr algn="ctr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Maison Margiela / BYREDO / DIPTYQUE / DIOR / HERMES / LE LABO 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Amazon</a:t>
            </a:r>
          </a:p>
          <a:p>
            <a:pPr>
              <a:defRPr sz="600"/>
            </a:pPr>
          </a:p>
          <a:p>
            <a:pPr algn="ctr">
              <a:lnSpc>
                <a:spcPts val="1600"/>
              </a:lnSpc>
              <a:defRPr sz="1100">
                <a:solidFill>
                  <a:srgbClr val="CCCCCC"/>
                </a:solidFill>
                <a:latin typeface="Meiryo"/>
              </a:defRPr>
            </a:pPr>
            <a:r>
              <a:t>小分け+ケース</a:t>
            </a:r>
            <a:br/>
            <a:r>
              <a:t>広告で集客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40" y="36576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TikTok Shop</a:t>
            </a:r>
          </a:p>
          <a:p>
            <a:pPr>
              <a:defRPr sz="600"/>
            </a:pPr>
          </a:p>
          <a:p>
            <a:pPr algn="ctr">
              <a:lnSpc>
                <a:spcPts val="1600"/>
              </a:lnSpc>
              <a:defRPr sz="1100">
                <a:solidFill>
                  <a:srgbClr val="CCCCCC"/>
                </a:solidFill>
                <a:latin typeface="Meiryo"/>
              </a:defRPr>
            </a:pPr>
            <a:r>
              <a:t>小分け+ケース</a:t>
            </a:r>
            <a:br/>
            <a:r>
              <a:t>コンテンツ販売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6576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メルカリShop</a:t>
            </a:r>
          </a:p>
          <a:p>
            <a:pPr>
              <a:defRPr sz="600"/>
            </a:pPr>
          </a:p>
          <a:p>
            <a:pPr algn="ctr">
              <a:lnSpc>
                <a:spcPts val="1600"/>
              </a:lnSpc>
              <a:defRPr sz="1100">
                <a:solidFill>
                  <a:srgbClr val="CCCCCC"/>
                </a:solidFill>
                <a:latin typeface="Meiryo"/>
              </a:defRPr>
            </a:pPr>
            <a:r>
              <a:t>小分け+ケース</a:t>
            </a:r>
            <a:br/>
            <a:r>
              <a:t>販売チャネル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36576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自社EC (Stripe)</a:t>
            </a:r>
          </a:p>
          <a:p>
            <a:pPr>
              <a:defRPr sz="600"/>
            </a:pPr>
          </a:p>
          <a:p>
            <a:pPr algn="ctr">
              <a:lnSpc>
                <a:spcPts val="1600"/>
              </a:lnSpc>
              <a:defRPr sz="1100">
                <a:solidFill>
                  <a:srgbClr val="CCCCCC"/>
                </a:solidFill>
                <a:latin typeface="Meiryo"/>
              </a:defRPr>
            </a:pPr>
            <a:r>
              <a:t>フルボトル</a:t>
            </a:r>
            <a:br/>
            <a:r>
              <a:t>高利益の本命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運営体制: 代表(四宮) + パート1名(みのべさん) + 11月〜(守殿さん復帰)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ビジネスモデル全体図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SNS認知 → Amazon購入 → LINE登録 → CRM育成 → フルボトル/クロスセル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SNS認知</a:t>
            </a:r>
          </a:p>
          <a:p>
            <a:pPr algn="ctr">
              <a:defRPr sz="1000">
                <a:solidFill>
                  <a:srgbClr val="AAAAAA"/>
                </a:solidFill>
                <a:latin typeface="Meiryo"/>
              </a:defRPr>
            </a:pPr>
            <a:r>
              <a:t>TikTok / Threads</a:t>
            </a:r>
          </a:p>
          <a:p>
            <a:pPr algn="ctr">
              <a:defRPr sz="1000">
                <a:solidFill>
                  <a:srgbClr val="AAAAAA"/>
                </a:solidFill>
                <a:latin typeface="Meiryo"/>
              </a:defRPr>
            </a:pPr>
            <a:r>
              <a:t>Instagram / SEO(60記事)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88920"/>
            <a:ext cx="1005840" cy="594360"/>
          </a:xfrm>
          <a:prstGeom prst="roundRect">
            <a:avLst/>
          </a:prstGeom>
          <a:noFill/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66666"/>
                </a:solidFill>
                <a:latin typeface="Meiryo"/>
              </a:defRPr>
            </a:pPr>
            <a:r>
              <a:t>Instagram</a:t>
            </a:r>
          </a:p>
          <a:p>
            <a:pPr algn="ctr">
              <a:defRPr sz="700">
                <a:solidFill>
                  <a:srgbClr val="999999"/>
                </a:solidFill>
                <a:latin typeface="Meiryo"/>
              </a:defRPr>
            </a:pPr>
            <a:r>
              <a:t>世界観構築→AI診断誘導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2788920"/>
            <a:ext cx="1005840" cy="594360"/>
          </a:xfrm>
          <a:prstGeom prst="roundRect">
            <a:avLst/>
          </a:prstGeom>
          <a:noFill/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66666"/>
                </a:solidFill>
                <a:latin typeface="Meiryo"/>
              </a:defRPr>
            </a:pPr>
            <a:r>
              <a:t>Threads</a:t>
            </a:r>
          </a:p>
          <a:p>
            <a:pPr algn="ctr">
              <a:defRPr sz="700">
                <a:solidFill>
                  <a:srgbClr val="999999"/>
                </a:solidFill>
                <a:latin typeface="Meiryo"/>
              </a:defRPr>
            </a:pPr>
            <a:r>
              <a:t>中の人投稿→認知拡大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107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Meiryo"/>
              </a:defRPr>
            </a:pPr>
            <a:r>
              <a:t>※ 今後追加予定（集客チャネル）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1920240"/>
            <a:ext cx="457200" cy="27432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08960" y="14630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Amazon小分け購入</a:t>
            </a:r>
          </a:p>
          <a:p>
            <a:pPr algn="ctr">
              <a:defRPr sz="1000">
                <a:solidFill>
                  <a:srgbClr val="DDFFDD"/>
                </a:solidFill>
                <a:latin typeface="Meiryo"/>
              </a:defRPr>
            </a:pPr>
            <a:r>
              <a:t>広告費 ~75万/月</a:t>
            </a:r>
          </a:p>
          <a:p>
            <a:pPr algn="ctr">
              <a:defRPr sz="1000">
                <a:solidFill>
                  <a:srgbClr val="DDFFDD"/>
                </a:solidFill>
                <a:latin typeface="Meiryo"/>
              </a:defRPr>
            </a:pPr>
            <a:r>
              <a:t>月間 ~3,500件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86400" y="1920240"/>
            <a:ext cx="457200" cy="27432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0" y="14630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LINE登録</a:t>
            </a:r>
          </a:p>
          <a:p>
            <a:pPr algn="ctr">
              <a:defRPr sz="1000">
                <a:solidFill>
                  <a:srgbClr val="DDFFDD"/>
                </a:solidFill>
                <a:latin typeface="Meiryo"/>
              </a:defRPr>
            </a:pPr>
            <a:r>
              <a:t>ケースプレゼント施策</a:t>
            </a:r>
          </a:p>
          <a:p>
            <a:pPr algn="ctr">
              <a:defRPr sz="1000">
                <a:solidFill>
                  <a:srgbClr val="DDFFDD"/>
                </a:solidFill>
                <a:latin typeface="Meiryo"/>
              </a:defRPr>
            </a:pPr>
            <a:r>
              <a:t>登録率 5.3% / 1,300人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12480" y="1920240"/>
            <a:ext cx="457200" cy="27432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CRM育成</a:t>
            </a:r>
          </a:p>
          <a:p>
            <a:pPr algn="ctr">
              <a:defRPr sz="1000">
                <a:solidFill>
                  <a:srgbClr val="AAAAAA"/>
                </a:solidFill>
                <a:latin typeface="Meiryo"/>
              </a:defRPr>
            </a:pPr>
            <a:r>
              <a:t>LINE Harness（自社開発）</a:t>
            </a:r>
          </a:p>
          <a:p>
            <a:pPr algn="ctr">
              <a:defRPr sz="1000">
                <a:solidFill>
                  <a:srgbClr val="AAAAAA"/>
                </a:solidFill>
                <a:latin typeface="Meiryo"/>
              </a:defRPr>
            </a:pPr>
            <a:r>
              <a:t>シナリオ配信+AI診断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418320" y="2834640"/>
            <a:ext cx="274320" cy="457200"/>
          </a:xfrm>
          <a:prstGeom prst="down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10332720" y="2834640"/>
            <a:ext cx="274320" cy="457200"/>
          </a:xfrm>
          <a:prstGeom prst="down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34747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フルボトル購入</a:t>
            </a:r>
          </a:p>
          <a:p>
            <a:pPr algn="ctr">
              <a:defRPr sz="900">
                <a:solidFill>
                  <a:srgbClr val="FFCCCC"/>
                </a:solidFill>
                <a:latin typeface="Meiryo"/>
              </a:defRPr>
            </a:pPr>
            <a:r>
              <a:t>自社EC(Stripe) / 高利益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3474720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クロスセル</a:t>
            </a:r>
          </a:p>
          <a:p>
            <a:pPr algn="ctr">
              <a:defRPr sz="900">
                <a:solidFill>
                  <a:srgbClr val="AAAAAA"/>
                </a:solidFill>
                <a:latin typeface="Meiryo"/>
              </a:defRPr>
            </a:pPr>
            <a:r>
              <a:t>別の小分け(Amazon)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サステナブルループ（ナイトライト事業）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02920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1A"/>
                </a:solidFill>
                <a:latin typeface="Meiryo"/>
              </a:defRPr>
            </a:pPr>
            <a:r>
              <a:t>① 小分け製造の空き瓶</a:t>
            </a:r>
            <a:br/>
            <a:r>
              <a:t>（自社ラボ発生）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0644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1A"/>
                </a:solidFill>
                <a:latin typeface="Meiryo"/>
              </a:defRPr>
            </a:pPr>
            <a:r>
              <a:t>② お客様のボトル返送</a:t>
            </a:r>
            <a:br/>
            <a:r>
              <a:t>（¥1,000引きで加工）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286000" y="5532120"/>
            <a:ext cx="36576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43200" y="521208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eiryo"/>
              </a:defRPr>
            </a:pPr>
            <a:r>
              <a:t>3Dプリンタ</a:t>
            </a:r>
            <a:br/>
            <a:r>
              <a:t>ナイトライト製作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663440" y="5440680"/>
            <a:ext cx="36576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20640" y="502920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TikTok Shop / 自社EC</a:t>
            </a:r>
            <a:br/>
            <a:r>
              <a:t>メルカリShopで販売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580644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製作動画をTikTok投稿</a:t>
            </a:r>
            <a:br/>
            <a:r>
              <a:t>サステナブル×おしゃれ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40880" y="5532120"/>
            <a:ext cx="36576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79" y="5074920"/>
            <a:ext cx="2011680" cy="54864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E6B38"/>
                </a:solidFill>
                <a:latin typeface="Meiryo"/>
              </a:defRPr>
            </a:pPr>
            <a:r>
              <a:t>新規認知→小分け購入→ループ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571500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Meiryo"/>
              </a:defRPr>
            </a:pPr>
            <a:r>
              <a:t>ボトル返送→¥1,000引き加工</a:t>
            </a:r>
            <a:br/>
            <a:r>
              <a:t>→フルボトル購入動機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961120" y="4480560"/>
            <a:ext cx="274320" cy="274320"/>
          </a:xfrm>
          <a:prstGeom prst="down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競合分析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主要競合: MELL fragrance（メルフレグランス）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4114800"/>
                <a:gridCol w="2560320"/>
              </a:tblGrid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MELL fragrance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COLLEGRANCE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差分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メルカリ累計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17,374件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ほぼゼロ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要開拓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メルカリ日販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40〜50件/日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TikTok 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~10,000件(5ヶ月)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25件(4月ローンチ)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要成長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TikTokレビュー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多数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1件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要50件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後発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1位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★優位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品揃え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多い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130種類+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許可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不明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★製造販売業許可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差別化ポイント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差別化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888888"/>
                          </a:solidFill>
                          <a:latin typeface="Meiryo"/>
                        </a:defRPr>
                      </a:pPr>
                      <a:r>
                        <a:t>品数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ケース・LINE CRM・AI診断・ナイトライト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COLLEGRANCEの強み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54406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6B38"/>
                </a:solidFill>
                <a:latin typeface="Meiryo"/>
              </a:defRPr>
            </a:pPr>
            <a:r>
              <a:t>1. Amazon1位（デザイン性・切り口で後発ながら獲得）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56692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6B38"/>
                </a:solidFill>
                <a:latin typeface="Meiryo"/>
              </a:defRPr>
            </a:pPr>
            <a:r>
              <a:t>2. 化粧品製造販売業許可（信頼性）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8978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6B38"/>
                </a:solidFill>
                <a:latin typeface="Meiryo"/>
              </a:defRPr>
            </a:pPr>
            <a:r>
              <a:t>3. LINE CRM（リピート・アップセル仕組み）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126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6B38"/>
                </a:solidFill>
                <a:latin typeface="Meiryo"/>
              </a:defRPr>
            </a:pPr>
            <a:r>
              <a:t>4. AI香水診断（自社サイト独自機能）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6B38"/>
                </a:solidFill>
                <a:latin typeface="Meiryo"/>
              </a:defRPr>
            </a:pPr>
            <a:r>
              <a:t>5. ナイトライト（サステナブル×ものづくり）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064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課題: TikTok・メルカリのレビュー数で大きく負けている</a:t>
            </a:r>
          </a:p>
          <a:p>
            <a:pPr algn="ctr">
              <a:defRPr sz="1300">
                <a:solidFill>
                  <a:srgbClr val="FFCCCC"/>
                </a:solidFill>
                <a:latin typeface="Meiryo"/>
              </a:defRPr>
            </a:pPr>
            <a:r>
              <a:t>→ レビュー獲得施策が最優先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Amazon販売実績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2025年10月〜2026年3月（実測+推定値）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828800"/>
                <a:gridCol w="16459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月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注文数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売上(税込)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広告費(税抜)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10月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¥1,712,373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¥829,402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1.70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11月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2,494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¥2,691,026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¥758,425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2.31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4,941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¥5,331,339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¥802,605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4.18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3,433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¥3,704,207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¥618,290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3.83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4,378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¥4,723,862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¥839,654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4,323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¥4,664,517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¥702,310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3.58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21,156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¥22,827,324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¥4,550,686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3.36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月別注文数推移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932530"/>
            <a:ext cx="594360" cy="822349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680960" y="361249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1,587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10月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462542"/>
            <a:ext cx="594360" cy="1292337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412480" y="314250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2,494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11月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194560"/>
            <a:ext cx="594360" cy="256032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0" y="18745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E63946"/>
                </a:solidFill>
                <a:latin typeface="Meiryo"/>
              </a:defRPr>
            </a:pPr>
            <a:r>
              <a:t>4,941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12月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2975973"/>
            <a:ext cx="594360" cy="1778906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875520" y="2655933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3,433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98480" y="2486294"/>
            <a:ext cx="594360" cy="2268585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0607040" y="216625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4,378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2月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0" y="2514794"/>
            <a:ext cx="594360" cy="2240085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1338560" y="219475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4,323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3月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0292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200"/>
              </a:spcAft>
              <a:defRPr sz="1300" b="1">
                <a:solidFill>
                  <a:srgbClr val="666666"/>
                </a:solidFill>
                <a:latin typeface="Meiryo"/>
              </a:defRPr>
            </a:pPr>
            <a:r>
              <a:t>ROAS推移</a:t>
            </a:r>
          </a:p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10月: 1.70 → 3月: 3.58</a:t>
            </a:r>
          </a:p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（広告効率 2.1倍に改善）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Meiryo"/>
              </a:defRPr>
            </a:pPr>
          </a:p>
          <a:p>
            <a:pPr algn="l"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E63946"/>
                </a:solidFill>
                <a:latin typeface="Meiryo"/>
              </a:defRPr>
            </a:pPr>
            <a:r>
              <a:t>TACOS: 21.9% → 目標15%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Meiryo"/>
              </a:defRPr>
            </a:pP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1A1A1A"/>
                </a:solidFill>
                <a:latin typeface="Meiryo"/>
              </a:defRPr>
            </a:pPr>
            <a:r>
              <a:t>平均単価（税込）: ¥1,079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※10月・11月は実測値、12月〜3月はアンケート回答率からの推定</a:t>
            </a:r>
            <a:br/>
            <a:r>
              <a:t>※広告データは全月セラーセントラル実測値（税抜）、売上はSP-API（税込）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ユニットエコノミクス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1個あたりの利益構造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Amazon小分け（1.5ml）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A1A1A"/>
                </a:solidFill>
                <a:latin typeface="Meiryo"/>
              </a:defRPr>
            </a:pPr>
            <a:r>
              <a:t>販売価格(税抜)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A1A1A"/>
                </a:solidFill>
                <a:latin typeface="Meiryo"/>
              </a:defRPr>
            </a:pPr>
            <a:r>
              <a:t>¥981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- 香水原価+副資材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¥230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- FBA出荷費用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377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¥202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- Amazon手数料(8%)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¥78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2560320" cy="18288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A7D44"/>
                </a:solidFill>
                <a:latin typeface="Meiryo"/>
              </a:defRPr>
            </a:pPr>
            <a:r>
              <a:t>= 利益（広告費前）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A7D44"/>
                </a:solidFill>
                <a:latin typeface="Meiryo"/>
              </a:defRPr>
            </a:pPr>
            <a:r>
              <a:t>¥470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2926080" cy="7315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E6B38"/>
                </a:solidFill>
                <a:latin typeface="Meiryo"/>
              </a:defRPr>
            </a:pPr>
            <a:r>
              <a:t>ケース付き(30%): +¥280 → 利益¥750/個</a:t>
            </a:r>
          </a:p>
          <a:p>
            <a:pPr algn="ctr">
              <a:defRPr sz="1200" b="1">
                <a:solidFill>
                  <a:srgbClr val="1A1A1A"/>
                </a:solidFill>
                <a:latin typeface="Meiryo"/>
              </a:defRPr>
            </a:pPr>
            <a:r>
              <a:t>加重平均利益: ¥554/個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E63946"/>
                </a:solidFill>
                <a:latin typeface="Meiryo"/>
              </a:defRPr>
            </a:pPr>
            <a:r>
              <a:t>フルボトル（自社EC）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1645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Meiryo"/>
              </a:defRPr>
            </a:pPr>
            <a:r>
              <a:t>価格設定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仕入原価 x 1.25 x 1.10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029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Meiryo"/>
              </a:defRPr>
            </a:pPr>
            <a:r>
              <a:t>粗利率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029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63946"/>
                </a:solidFill>
                <a:latin typeface="Meiryo"/>
              </a:defRPr>
            </a:pPr>
            <a:r>
              <a:t>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140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Meiryo"/>
              </a:defRPr>
            </a:pPr>
            <a:r>
              <a:t>在庫リスク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4140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ゼロ（受注後発注）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7980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Meiryo"/>
              </a:defRPr>
            </a:pPr>
            <a:r>
              <a:t>広告費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7980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¥0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1821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Meiryo"/>
              </a:defRPr>
            </a:pPr>
            <a:r>
              <a:t>Amazon手数料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182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¥0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3657600"/>
            <a:ext cx="2743200" cy="73152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低マージンだが在庫リスクゼロ</a:t>
            </a:r>
            <a:br/>
            <a:r>
              <a:t>LINE経由でAmazon広告費不要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9800"/>
                </a:solidFill>
                <a:latin typeface="Meiryo"/>
              </a:defRPr>
            </a:pPr>
            <a:r>
              <a:t>ナイトライト（新規）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1645920"/>
            <a:ext cx="2468880" cy="16459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自社ボトル</a:t>
            </a:r>
          </a:p>
          <a:p>
            <a:pPr algn="ctr">
              <a:defRPr sz="1000" b="0">
                <a:solidFill>
                  <a:srgbClr val="333333"/>
                </a:solidFill>
                <a:latin typeface="Meiryo"/>
              </a:defRPr>
            </a:pPr>
            <a:r>
              <a:t>¥3,480 - ¥300 = 粗利¥3,180</a:t>
            </a:r>
          </a:p>
          <a:p>
            <a:pPr algn="ctr">
              <a:defRPr sz="1000" b="1">
                <a:solidFill>
                  <a:srgbClr val="FF9800"/>
                </a:solidFill>
                <a:latin typeface="Meiryo"/>
              </a:defRPr>
            </a:pPr>
            <a:r>
              <a:t>粗利率 91%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1645920"/>
            <a:ext cx="2468880" cy="16459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返送加工</a:t>
            </a:r>
          </a:p>
          <a:p>
            <a:pPr algn="ctr">
              <a:defRPr sz="1000" b="0">
                <a:solidFill>
                  <a:srgbClr val="333333"/>
                </a:solidFill>
                <a:latin typeface="Meiryo"/>
              </a:defRPr>
            </a:pPr>
            <a:r>
              <a:t>¥2,480 - ¥300 = 粗利¥2,180</a:t>
            </a:r>
          </a:p>
          <a:p>
            <a:pPr algn="ctr">
              <a:defRPr sz="1000" b="1">
                <a:solidFill>
                  <a:srgbClr val="FF9800"/>
                </a:solidFill>
                <a:latin typeface="Meiryo"/>
              </a:defRPr>
            </a:pPr>
            <a:r>
              <a:t>粗利率 88%</a:t>
            </a:r>
          </a:p>
          <a:p>
            <a:pPr algn="ctr">
              <a:defRPr sz="800" b="0">
                <a:solidFill>
                  <a:srgbClr val="666666"/>
                </a:solidFill>
                <a:latin typeface="Meiryo"/>
              </a:defRPr>
            </a:pPr>
            <a:r>
              <a:t>※ボトル返送者は¥1,000引き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3657600"/>
            <a:ext cx="5120640" cy="73152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超高利益率 + ボトル返送→フルボトル購入動機に繋がる循環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754880"/>
            <a:ext cx="11247120" cy="7315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6B38"/>
                </a:solidFill>
                <a:latin typeface="Meiryo"/>
              </a:defRPr>
            </a:pPr>
            <a:r>
              <a:t>Amazon小分け = キャッシュフローエンジン  /  フルボトル = ノーリスク追加利益  /  ナイトライト = 高利益の成長ドライバー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Amazon小分け事業 月別P/L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2025年10月〜2026年3月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1828800"/>
                <a:gridCol w="1828800"/>
                <a:gridCol w="2286000"/>
                <a:gridCol w="1371600"/>
              </a:tblGrid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月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売上(税抜)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原価+手数料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広告費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粗利益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利益率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10月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¥1,556,703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¥810,215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¥829,402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-¥82,915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-5.3%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11月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¥2,446,387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¥1,273,269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¥758,425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¥414,694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17.0%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¥4,846,672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¥2,522,542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¥802,605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¥1,521,525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¥3,367,461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¥1,752,659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¥618,290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¥996,512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29.6%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¥4,294,420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¥2,235,113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¥839,654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¥1,219,654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28.4%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¥4,240,470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¥2,207,033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¥702,310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¥1,331,127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¥20,752,113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¥10,800,831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¥4,550,686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¥5,400,596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26.0%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48640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Meiryo"/>
              </a:defRPr>
            </a:pPr>
            <a:r>
              <a:t>月平均利益</a:t>
            </a:r>
          </a:p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¥900,099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548640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Meiryo"/>
              </a:defRPr>
            </a:pPr>
            <a:r>
              <a:t>人件費控除後</a:t>
            </a:r>
          </a:p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¥740,099/月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48640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Meiryo"/>
              </a:defRPr>
            </a:pPr>
            <a:r>
              <a:t>安定黒字化</a:t>
            </a:r>
          </a:p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11月以降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※10月は立ち上げ月で赤字。パート人件費 月16万円。12月〜3月の注文数はアンケート回答率からの推定値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アンケートファネル分析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Amazon購入者 → LINE登録 → クロスセル/アップセル対象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457200" y="1371600"/>
            <a:ext cx="9144000" cy="8229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Amazon購入者（推定）    21,156人    (100%)</a:t>
            </a:r>
          </a:p>
        </p:txBody>
      </p:sp>
      <p:sp>
        <p:nvSpPr>
          <p:cNvPr id="6" name="Down Arrow 5"/>
          <p:cNvSpPr/>
          <p:nvPr/>
        </p:nvSpPr>
        <p:spPr>
          <a:xfrm>
            <a:off x="3977640" y="2194560"/>
            <a:ext cx="27432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7315200" cy="8229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LINE登録（アンケート回答）    1,258人    (登録率 5.3%)</a:t>
            </a:r>
          </a:p>
        </p:txBody>
      </p:sp>
      <p:sp>
        <p:nvSpPr>
          <p:cNvPr id="8" name="Down Arrow 7"/>
          <p:cNvSpPr/>
          <p:nvPr/>
        </p:nvSpPr>
        <p:spPr>
          <a:xfrm>
            <a:off x="3977640" y="3291840"/>
            <a:ext cx="27432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3566160"/>
            <a:ext cx="5943600" cy="82296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「他にも試したい」    1,087人    (86.4%)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977640" y="4389120"/>
            <a:ext cx="27432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4663440"/>
            <a:ext cx="4572000" cy="82296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「フルボトル検討中」    728人    (57.9%)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56616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クロスセル対象</a:t>
            </a:r>
            <a:br/>
            <a:r>
              <a:t>1,087人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466344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アップセル対象</a:t>
            </a:r>
            <a:br/>
            <a:r>
              <a:t>728人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E63946"/>
                </a:solidFill>
                <a:latin typeface="Meiryo"/>
              </a:defRPr>
            </a:pPr>
            <a:r>
              <a:t>★ 728人がフルボトル購入を検討中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→ この2セグメントに対するLINE配信を明日ローンチ</a:t>
            </a:r>
          </a:p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→ フルボトルLP / クロスセルLPをパーソナライズ配信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顧客属性（アンケートデータ）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回答者: 1,258人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性別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男性 70%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737360"/>
            <a:ext cx="1325880" cy="41148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女性 29%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737360"/>
            <a:ext cx="45720" cy="41148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その他 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年齢分布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50代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770632"/>
            <a:ext cx="3657600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906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40代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3118104"/>
            <a:ext cx="2926080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381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30代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3465576"/>
            <a:ext cx="2779776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856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20代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813048"/>
            <a:ext cx="2633472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33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60代〜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4160520"/>
            <a:ext cx="1755648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12%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10代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4507992"/>
            <a:ext cx="877824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満足度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E63946"/>
                </a:solidFill>
                <a:latin typeface="Meiryo"/>
              </a:defRPr>
            </a:pPr>
            <a:r>
              <a:t>★4以上: 88.9%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468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496312"/>
            <a:ext cx="3168396" cy="2286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59.4%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788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816352"/>
            <a:ext cx="157353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29.5%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136392"/>
            <a:ext cx="506730" cy="2286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9.5%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429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3456432"/>
            <a:ext cx="58674" cy="2286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1.1%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749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776472"/>
            <a:ext cx="26670" cy="2286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0.5%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香水を知ったきっかけ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YouTube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782312"/>
            <a:ext cx="265176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29%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047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Amazon・楽天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5074920"/>
            <a:ext cx="237744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26%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3400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SNS(IG/TikTok)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5367528"/>
            <a:ext cx="201168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22%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632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友人・知人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5660136"/>
            <a:ext cx="109728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12%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9253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雑誌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5952744"/>
            <a:ext cx="54864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6217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その他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6245352"/>
            <a:ext cx="45720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人気商品TOP3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212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E63946"/>
                </a:solidFill>
                <a:latin typeface="Meiryo"/>
              </a:defRPr>
            </a:pPr>
            <a:r>
              <a:t>1位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商品030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42.1%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532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E63946"/>
                </a:solidFill>
                <a:latin typeface="Meiryo"/>
              </a:defRPr>
            </a:pPr>
            <a:r>
              <a:t>2位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商品018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532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20.6%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8521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E63946"/>
                </a:solidFill>
                <a:latin typeface="Meiryo"/>
              </a:defRPr>
            </a:pPr>
            <a:r>
              <a:t>3位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" y="5852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商品039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5852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7.8%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販売チャネル詳細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560320"/>
                <a:gridCol w="1828800"/>
                <a:gridCol w="3200400"/>
              </a:tblGrid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チャネル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商品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現状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発送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小分け+ケース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月3,500件/1位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FBA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TACOS 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TikTok Shop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小分け+ケース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25件/月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ネコポス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SPS30件→レビュー50件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メルカリShop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小分け+ケース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8SKU/立ち上げ中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ネコポス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レビュー獲得→日販20件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自社EC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フルボトル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5件累計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ヤマト運輸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LINE転換率20%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9800"/>
                          </a:solidFill>
                          <a:latin typeface="Meiryo"/>
                        </a:defRPr>
                      </a:pPr>
                      <a:r>
                        <a:t>TikTok/自社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ナイトライト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準備中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ヤマト運輸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FF9800"/>
                          </a:solidFill>
                          <a:latin typeface="Meiryo"/>
                        </a:defRPr>
                      </a:pPr>
                      <a:r>
                        <a:t>月100個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運用・オペレーション体制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発送管理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37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ネクストエンジン（TikTok+メルカリ統合）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オペレーション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固まるまで四宮が対応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6928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11月〜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669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A7D44"/>
                </a:solidFill>
                <a:latin typeface="Meiryo"/>
              </a:defRPr>
            </a:pPr>
            <a:r>
              <a:t>守殿さん復帰で体制強化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LINE CRM設計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LINE Harness（自社開発CRM/MA）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74320"/>
            <a:ext cx="2743200" cy="4572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明日ローンチ!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シナリオ配信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Day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373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ウェルカム + 購入商品タグ付け</a:t>
            </a:r>
          </a:p>
        </p:txBody>
      </p:sp>
      <p:sp>
        <p:nvSpPr>
          <p:cNvPr id="9" name="Down Arrow 8"/>
          <p:cNvSpPr/>
          <p:nvPr/>
        </p:nvSpPr>
        <p:spPr>
          <a:xfrm>
            <a:off x="1051560" y="224028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Day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「香りはいかがですか？」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051560" y="324612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74904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Day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49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フルボトルLP配信</a:t>
            </a:r>
            <a:br/>
            <a:r>
              <a:t>collegrance.com/?from=sample&amp;product={ID}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51560" y="425196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Day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7548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AI香水診断誘導</a:t>
            </a:r>
            <a:br/>
            <a:r>
              <a:t>collegrance.com/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アンケート → レコメンド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アンケート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7373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「次に試したい香りは？」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7178040" y="224028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92608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タグ付け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回答に基づき興味タグ付与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178040" y="342900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411480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レコメンド配信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小分けおすすめLP</a:t>
            </a:r>
            <a:br/>
            <a:r>
              <a:t>?from=recommend&amp;product={ID}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0352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ポイント: 商品IDに応じてURLを動的生成し、パーソナライズ配信を実現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自社サイト + SNS戦略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collegrance.com（リニューアル完了）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AI香水診断（Claude AI）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フルボトルEC（130種類、Stripe決済）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ブログ60本（SEO、100本目標）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商品LP（LINE配信のリンク先）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GA4 eコマーストラッキング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SNS戦略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0" y="17373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チャネル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TikTok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みのべさん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稼働中（毎日1本）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Threads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keito（中の人）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準備中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Instagram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keito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準備中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943600" y="3749039"/>
            <a:ext cx="5486400" cy="7315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TikTok: みのべさん毎日1本投稿</a:t>
            </a:r>
          </a:p>
          <a:p>
            <a:pPr algn="l">
              <a:defRPr sz="1100">
                <a:solidFill>
                  <a:srgbClr val="666666"/>
                </a:solidFill>
                <a:latin typeface="Meiryo"/>
              </a:defRPr>
            </a:pPr>
            <a:r>
              <a:t>現在の平均再生数: 約2,000回/本 / アルゴリズム研究中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新施策: ナイトライト事業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フルボトル</a:t>
            </a:r>
            <a:br/>
            <a:r>
              <a:t>空き瓶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23160" y="4892040"/>
            <a:ext cx="41148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2608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3Dプリンタ</a:t>
            </a:r>
            <a:br/>
            <a:r>
              <a:t>で加工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617720" y="4892040"/>
            <a:ext cx="41148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064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ナイトライト</a:t>
            </a:r>
            <a:br/>
            <a:r>
              <a:t>完成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12280" y="4892040"/>
            <a:ext cx="41148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TikTok動画</a:t>
            </a:r>
            <a:br/>
            <a:r>
              <a:t>で拡散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06840" y="4892040"/>
            <a:ext cx="41148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0976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販売</a:t>
            </a:r>
            <a:br/>
            <a:r>
              <a:t>(各チャネル)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3A7D44"/>
                </a:solidFill>
                <a:latin typeface="Meiryo"/>
              </a:defRPr>
            </a:pPr>
            <a:r>
              <a:t>香水の「試す → 使う → 残る → 再生 → 広がる」全ライフサイクルをビジネス化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月別売上目標（2026年4月〜2027年1月）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累計: ¥57,200,000（目標5,000万超え）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01438"/>
            <a:ext cx="777240" cy="1427761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57200" y="3593172"/>
            <a:ext cx="777240" cy="8265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" y="3570629"/>
            <a:ext cx="777240" cy="22543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65760" y="3296309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¥3.9M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4月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3526293"/>
            <a:ext cx="777240" cy="1502906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463040" y="3492478"/>
            <a:ext cx="777240" cy="33815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1463040" y="3475570"/>
            <a:ext cx="777240" cy="16907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1463040" y="3400425"/>
            <a:ext cx="777240" cy="75145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371600" y="3126105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¥4.3M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5月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451148"/>
            <a:ext cx="777240" cy="1578051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2468880" y="3394789"/>
            <a:ext cx="777240" cy="56358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2468880" y="3377881"/>
            <a:ext cx="777240" cy="16907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2468880" y="3246377"/>
            <a:ext cx="777240" cy="131504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2468880" y="3233226"/>
            <a:ext cx="777240" cy="1315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2377440" y="295890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¥4.8M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6月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526293"/>
            <a:ext cx="777240" cy="1502906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3474720" y="3424847"/>
            <a:ext cx="777240" cy="101446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3474720" y="3368488"/>
            <a:ext cx="777240" cy="56358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3474720" y="3218197"/>
            <a:ext cx="777240" cy="15029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3474720" y="3205047"/>
            <a:ext cx="777240" cy="1315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383280" y="2930727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¥4.9M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7月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3601438"/>
            <a:ext cx="777240" cy="1427761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4480560" y="3507507"/>
            <a:ext cx="777240" cy="93931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4480560" y="3458662"/>
            <a:ext cx="777240" cy="48844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Rounded Rectangle 32"/>
          <p:cNvSpPr/>
          <p:nvPr/>
        </p:nvSpPr>
        <p:spPr>
          <a:xfrm>
            <a:off x="4480560" y="3327158"/>
            <a:ext cx="777240" cy="131504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4480560" y="3300857"/>
            <a:ext cx="777240" cy="2630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4389120" y="3026537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¥4.6M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8月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3451148"/>
            <a:ext cx="777240" cy="1578051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8" name="Rounded Rectangle 37"/>
          <p:cNvSpPr/>
          <p:nvPr/>
        </p:nvSpPr>
        <p:spPr>
          <a:xfrm>
            <a:off x="5486400" y="3319643"/>
            <a:ext cx="777240" cy="131504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Rounded Rectangle 38"/>
          <p:cNvSpPr/>
          <p:nvPr/>
        </p:nvSpPr>
        <p:spPr>
          <a:xfrm>
            <a:off x="5486400" y="3244498"/>
            <a:ext cx="777240" cy="75145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Rounded Rectangle 39"/>
          <p:cNvSpPr/>
          <p:nvPr/>
        </p:nvSpPr>
        <p:spPr>
          <a:xfrm>
            <a:off x="5486400" y="3075421"/>
            <a:ext cx="777240" cy="169076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Rounded Rectangle 40"/>
          <p:cNvSpPr/>
          <p:nvPr/>
        </p:nvSpPr>
        <p:spPr>
          <a:xfrm>
            <a:off x="5486400" y="3049120"/>
            <a:ext cx="777240" cy="2630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5394960" y="277480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¥5.3M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8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9月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3150566"/>
            <a:ext cx="777240" cy="1878633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5" name="Rounded Rectangle 44"/>
          <p:cNvSpPr/>
          <p:nvPr/>
        </p:nvSpPr>
        <p:spPr>
          <a:xfrm>
            <a:off x="6492240" y="2887558"/>
            <a:ext cx="777240" cy="263008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6" name="Rounded Rectangle 45"/>
          <p:cNvSpPr/>
          <p:nvPr/>
        </p:nvSpPr>
        <p:spPr>
          <a:xfrm>
            <a:off x="6492240" y="2699694"/>
            <a:ext cx="777240" cy="187863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7" name="Rounded Rectangle 46"/>
          <p:cNvSpPr/>
          <p:nvPr/>
        </p:nvSpPr>
        <p:spPr>
          <a:xfrm>
            <a:off x="6492240" y="2474258"/>
            <a:ext cx="777240" cy="225435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8" name="Rounded Rectangle 47"/>
          <p:cNvSpPr/>
          <p:nvPr/>
        </p:nvSpPr>
        <p:spPr>
          <a:xfrm>
            <a:off x="6492240" y="2434807"/>
            <a:ext cx="777240" cy="39451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6400800" y="2160487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¥6.9M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10月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8080" y="2962703"/>
            <a:ext cx="777240" cy="2066496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2" name="Rounded Rectangle 51"/>
          <p:cNvSpPr/>
          <p:nvPr/>
        </p:nvSpPr>
        <p:spPr>
          <a:xfrm>
            <a:off x="7498080" y="2624549"/>
            <a:ext cx="777240" cy="338153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3" name="Rounded Rectangle 52"/>
          <p:cNvSpPr/>
          <p:nvPr/>
        </p:nvSpPr>
        <p:spPr>
          <a:xfrm>
            <a:off x="7498080" y="2370933"/>
            <a:ext cx="777240" cy="253615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4" name="Rounded Rectangle 53"/>
          <p:cNvSpPr/>
          <p:nvPr/>
        </p:nvSpPr>
        <p:spPr>
          <a:xfrm>
            <a:off x="7498080" y="2145498"/>
            <a:ext cx="777240" cy="225435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5" name="Rounded Rectangle 54"/>
          <p:cNvSpPr/>
          <p:nvPr/>
        </p:nvSpPr>
        <p:spPr>
          <a:xfrm>
            <a:off x="7498080" y="2051566"/>
            <a:ext cx="777240" cy="93931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6" name="TextBox 55"/>
          <p:cNvSpPr txBox="1"/>
          <p:nvPr/>
        </p:nvSpPr>
        <p:spPr>
          <a:xfrm>
            <a:off x="7406640" y="177724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¥7.9M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5236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11月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03920" y="2774840"/>
            <a:ext cx="777240" cy="2254359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9" name="Rounded Rectangle 58"/>
          <p:cNvSpPr/>
          <p:nvPr/>
        </p:nvSpPr>
        <p:spPr>
          <a:xfrm>
            <a:off x="8503920" y="2323968"/>
            <a:ext cx="777240" cy="450871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0" name="Rounded Rectangle 59"/>
          <p:cNvSpPr/>
          <p:nvPr/>
        </p:nvSpPr>
        <p:spPr>
          <a:xfrm>
            <a:off x="8503920" y="1985814"/>
            <a:ext cx="777240" cy="338153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1" name="Rounded Rectangle 60"/>
          <p:cNvSpPr/>
          <p:nvPr/>
        </p:nvSpPr>
        <p:spPr>
          <a:xfrm>
            <a:off x="8503920" y="1685232"/>
            <a:ext cx="777240" cy="300581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2" name="Rounded Rectangle 61"/>
          <p:cNvSpPr/>
          <p:nvPr/>
        </p:nvSpPr>
        <p:spPr>
          <a:xfrm>
            <a:off x="8503920" y="1554480"/>
            <a:ext cx="777240" cy="130752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8412480" y="128016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¥9.2M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12月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09760" y="3601438"/>
            <a:ext cx="777240" cy="1427761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6" name="Rounded Rectangle 65"/>
          <p:cNvSpPr/>
          <p:nvPr/>
        </p:nvSpPr>
        <p:spPr>
          <a:xfrm>
            <a:off x="9509760" y="3376002"/>
            <a:ext cx="777240" cy="225435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7" name="Rounded Rectangle 66"/>
          <p:cNvSpPr/>
          <p:nvPr/>
        </p:nvSpPr>
        <p:spPr>
          <a:xfrm>
            <a:off x="9509760" y="3206925"/>
            <a:ext cx="777240" cy="169076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8" name="Rounded Rectangle 67"/>
          <p:cNvSpPr/>
          <p:nvPr/>
        </p:nvSpPr>
        <p:spPr>
          <a:xfrm>
            <a:off x="9509760" y="3056635"/>
            <a:ext cx="777240" cy="15029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9" name="Rounded Rectangle 68"/>
          <p:cNvSpPr/>
          <p:nvPr/>
        </p:nvSpPr>
        <p:spPr>
          <a:xfrm>
            <a:off x="9509760" y="3000276"/>
            <a:ext cx="777240" cy="56358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0" name="TextBox 69"/>
          <p:cNvSpPr txBox="1"/>
          <p:nvPr/>
        </p:nvSpPr>
        <p:spPr>
          <a:xfrm>
            <a:off x="9418320" y="272595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1A1A1A"/>
                </a:solidFill>
                <a:latin typeface="Meiryo"/>
              </a:defRPr>
            </a:pPr>
            <a:r>
              <a:t>¥5.4M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64040" y="507492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1月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5394960"/>
            <a:ext cx="274320" cy="18288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3" name="TextBox 72"/>
          <p:cNvSpPr txBox="1"/>
          <p:nvPr/>
        </p:nvSpPr>
        <p:spPr>
          <a:xfrm>
            <a:off x="777240" y="53766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Amazon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560320" y="5394960"/>
            <a:ext cx="274320" cy="182880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5" name="TextBox 74"/>
          <p:cNvSpPr txBox="1"/>
          <p:nvPr/>
        </p:nvSpPr>
        <p:spPr>
          <a:xfrm>
            <a:off x="2880360" y="53766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TikTok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63440" y="5394960"/>
            <a:ext cx="274320" cy="182880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7" name="TextBox 76"/>
          <p:cNvSpPr txBox="1"/>
          <p:nvPr/>
        </p:nvSpPr>
        <p:spPr>
          <a:xfrm>
            <a:off x="4983480" y="53766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メルカリ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766560" y="5394960"/>
            <a:ext cx="274320" cy="18288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9" name="TextBox 78"/>
          <p:cNvSpPr txBox="1"/>
          <p:nvPr/>
        </p:nvSpPr>
        <p:spPr>
          <a:xfrm>
            <a:off x="7086600" y="53766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フルボトル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869680" y="5394960"/>
            <a:ext cx="274320" cy="18288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9189720" y="53766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ナイトライト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57607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666666"/>
                </a:solidFill>
                <a:latin typeface="Meiryo"/>
              </a:defRPr>
            </a:pPr>
            <a:r>
              <a:t>※7-8月: 夏の需要減を反映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59618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E63946"/>
                </a:solidFill>
                <a:latin typeface="Meiryo"/>
              </a:defRPr>
            </a:pPr>
            <a:r>
              <a:t>※12月: ギフト需要ピーク ¥9.2M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61630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666666"/>
                </a:solidFill>
                <a:latin typeface="Meiryo"/>
              </a:defRPr>
            </a:pPr>
            <a:r>
              <a:t>※1月: 年末反動で減少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0" y="5577840"/>
            <a:ext cx="4389120" cy="64008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"/>
              </a:defRPr>
            </a:pPr>
            <a:r>
              <a:t>10ヶ月累計: ¥57,200,000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チャネル別KPI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Amazon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TACOS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91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1A1A1A"/>
                </a:solidFill>
                <a:latin typeface="Meiryo"/>
              </a:defRPr>
            </a:pPr>
            <a:r>
              <a:t>21.9%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691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A7D44"/>
                </a:solidFill>
                <a:latin typeface="Meiryo"/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月間注文数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1A1A1A"/>
                </a:solidFill>
                <a:latin typeface="Meiryo"/>
              </a:defRPr>
            </a:pPr>
            <a:r>
              <a:t>3,500件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A7D44"/>
                </a:solidFill>
                <a:latin typeface="Meiryo"/>
              </a:defRPr>
            </a:pPr>
            <a:r>
              <a:t>4,500件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ROAS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331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1A1A1A"/>
                </a:solidFill>
                <a:latin typeface="Meiryo"/>
              </a:defRPr>
            </a:pPr>
            <a:r>
              <a:t>3.58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331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331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A7D44"/>
                </a:solidFill>
                <a:latin typeface="Meiryo"/>
              </a:defRPr>
            </a:pPr>
            <a:r>
              <a:t>4.5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4320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TikTok 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5月: SPS 30件達成 → プロモーション対象に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20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7月: レビュー50件達成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94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10月: 月間1,000件（MELL比50%）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69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動画: 毎日1本、再生数2,000→5,000回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118872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メルカリShop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6月: レビュー100件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965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8月: フォロワー500人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10月: 日販20件（月600件）、レビュー500件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74320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LINE → フルボトル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登録率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246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1A1A1A"/>
                </a:solidFill>
                <a:latin typeface="Meiryo"/>
              </a:defRPr>
            </a:pPr>
            <a:r>
              <a:t>5.3%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46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246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A7D44"/>
                </a:solidFill>
                <a:latin typeface="Meiryo"/>
              </a:defRPr>
            </a:pPr>
            <a:r>
              <a:t>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シナリオ開封率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1A1A1A"/>
                </a:solidFill>
                <a:latin typeface="Meiryo"/>
              </a:defRPr>
            </a:pPr>
            <a: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520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520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A7D44"/>
                </a:solidFill>
                <a:latin typeface="Meiryo"/>
              </a:defRPr>
            </a:pPr>
            <a:r>
              <a:t>60%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794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フルボトル転換率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794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1A1A1A"/>
                </a:solidFill>
                <a:latin typeface="Meiryo"/>
              </a:defRPr>
            </a:pPr>
            <a:r>
              <a:t>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794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794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A7D44"/>
                </a:solidFill>
                <a:latin typeface="Meiryo"/>
              </a:defRPr>
            </a:pPr>
            <a:r>
              <a:t>20%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1188720"/>
            <a:ext cx="3474720" cy="36576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ナイトライト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6月: 製作開始（自社ボトル月50個）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1965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8月: 返送加工サービス開始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11月: 月100個（50個自社+50個返送加工）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72000"/>
            <a:ext cx="11247120" cy="13716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Meiryo"/>
              </a:defRPr>
            </a:pPr>
            <a:r>
              <a:t>KPIまとめ: 最優先はレビュー獲得</a:t>
            </a:r>
          </a:p>
          <a:p>
            <a:pPr algn="l">
              <a:defRPr sz="1100">
                <a:solidFill>
                  <a:srgbClr val="333333"/>
                </a:solidFill>
                <a:latin typeface="Meiryo"/>
              </a:defRPr>
            </a:pPr>
            <a:r>
              <a:t>1. TikTok SPS 30件（5月） → レビュー50件（7月） → 月間1,000件（10月）</a:t>
            </a:r>
          </a:p>
          <a:p>
            <a:pPr algn="l">
              <a:defRPr sz="1100">
                <a:solidFill>
                  <a:srgbClr val="333333"/>
                </a:solidFill>
                <a:latin typeface="Meiryo"/>
              </a:defRPr>
            </a:pPr>
            <a:r>
              <a:t>2. メルカリ レビュー100件（6月） → 日販20件（10月）</a:t>
            </a:r>
          </a:p>
          <a:p>
            <a:pPr algn="l">
              <a:defRPr sz="1100">
                <a:solidFill>
                  <a:srgbClr val="333333"/>
                </a:solidFill>
                <a:latin typeface="Meiryo"/>
              </a:defRPr>
            </a:pPr>
            <a:r>
              <a:t>3. Amazon TACOS 21.9% → 15%（広告効率改善）</a:t>
            </a:r>
          </a:p>
          <a:p>
            <a:pPr algn="l">
              <a:defRPr sz="1100">
                <a:solidFill>
                  <a:srgbClr val="333333"/>
                </a:solidFill>
                <a:latin typeface="Meiryo"/>
              </a:defRPr>
            </a:pPr>
            <a:r>
              <a:t>4. LINE フルボトル転換率 20%（CRM育成）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利益シミュレーション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10ヶ月累計（2026年4月〜2027年1月）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3A7D44"/>
                </a:solidFill>
                <a:latin typeface="Meiryo"/>
              </a:defRPr>
            </a:pPr>
            <a:r>
              <a:t>10ヶ月累計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売上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¥57,200,000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粗利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¥16,223,380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E63946"/>
                </a:solidFill>
                <a:latin typeface="Meiryo"/>
              </a:defRPr>
            </a:pPr>
            <a:r>
              <a:t>人件費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63946"/>
                </a:solidFill>
                <a:latin typeface="Meiryo"/>
              </a:defRPr>
            </a:pPr>
            <a:r>
              <a:t>-¥1,600,000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66666"/>
                </a:solidFill>
                <a:latin typeface="Meiryo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27432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(パート月16万x10ヶ月)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93008"/>
            <a:ext cx="4114800" cy="27432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営業利益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¥14,623,380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営業利益率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25.6%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>
                <a:solidFill>
                  <a:srgbClr val="CCFFCC"/>
                </a:solidFill>
                <a:latin typeface="Meiryo"/>
              </a:defRPr>
            </a:pPr>
            <a:r>
              <a:t>月平均売上</a:t>
            </a:r>
          </a:p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¥5,720,000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457200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>
                <a:solidFill>
                  <a:srgbClr val="CCFFCC"/>
                </a:solidFill>
                <a:latin typeface="Meiryo"/>
              </a:defRPr>
            </a:pPr>
            <a:r>
              <a:t>月平均利益</a:t>
            </a:r>
          </a:p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¥1,462,338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3A7D44"/>
                </a:solidFill>
                <a:latin typeface="Meiryo"/>
              </a:defRPr>
            </a:pPr>
            <a:r>
              <a:t>将来展望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73736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67512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問屋を介さず海外から直接仕入れ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→ 原価率さらに改善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46888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守殿さん復帰（11月〜）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→ オペレーション体制強化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20040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67512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TikTok Shop成長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→ 広告費不要の販売チャネル拡大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93192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6751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ナイトライト事業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51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→ 超高利益率の成長ドライバー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66344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6751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LINE CRM成熟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→ リピーター基盤の確立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3A7D44"/>
                </a:solidFill>
                <a:latin typeface="Meiryo"/>
              </a:defRPr>
            </a:pPr>
            <a:r>
              <a:t>売上構成比（10ヶ月累計）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983480"/>
            <a:ext cx="3179618" cy="3657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Rounded Rectangle 38"/>
          <p:cNvSpPr/>
          <p:nvPr/>
        </p:nvSpPr>
        <p:spPr>
          <a:xfrm>
            <a:off x="9580418" y="4983480"/>
            <a:ext cx="326018" cy="365760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Rounded Rectangle 39"/>
          <p:cNvSpPr/>
          <p:nvPr/>
        </p:nvSpPr>
        <p:spPr>
          <a:xfrm>
            <a:off x="9906436" y="4983480"/>
            <a:ext cx="222645" cy="365760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Rounded Rectangle 40"/>
          <p:cNvSpPr/>
          <p:nvPr/>
        </p:nvSpPr>
        <p:spPr>
          <a:xfrm>
            <a:off x="10129082" y="4983480"/>
            <a:ext cx="302855" cy="36576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2" name="Rounded Rectangle 41"/>
          <p:cNvSpPr/>
          <p:nvPr/>
        </p:nvSpPr>
        <p:spPr>
          <a:xfrm>
            <a:off x="10431937" y="4983480"/>
            <a:ext cx="91440" cy="36576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3" name="Rounded Rectangle 42"/>
          <p:cNvSpPr/>
          <p:nvPr/>
        </p:nvSpPr>
        <p:spPr>
          <a:xfrm>
            <a:off x="6400800" y="5440680"/>
            <a:ext cx="182880" cy="1371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6629400" y="54132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333333"/>
                </a:solidFill>
                <a:latin typeface="Meiryo"/>
              </a:defRPr>
            </a:pPr>
            <a:r>
              <a:t>Amazon 77%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5440680"/>
            <a:ext cx="182880" cy="137160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8275320" y="54132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333333"/>
                </a:solidFill>
                <a:latin typeface="Meiryo"/>
              </a:defRPr>
            </a:pPr>
            <a:r>
              <a:t>TikTok 8%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92640" y="5440680"/>
            <a:ext cx="182880" cy="137160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9921240" y="54132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333333"/>
                </a:solidFill>
                <a:latin typeface="Meiryo"/>
              </a:defRPr>
            </a:pPr>
            <a:r>
              <a:t>メルカリ 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669280"/>
            <a:ext cx="182880" cy="13716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6629400" y="56418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333333"/>
                </a:solidFill>
                <a:latin typeface="Meiryo"/>
              </a:defRPr>
            </a:pPr>
            <a:r>
              <a:t>フルボトル 7%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5669280"/>
            <a:ext cx="182880" cy="13716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8275320" y="56418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>
                <a:solidFill>
                  <a:srgbClr val="333333"/>
                </a:solidFill>
                <a:latin typeface="Meiryo"/>
              </a:defRPr>
            </a:pPr>
            <a:r>
              <a:t>ナイトライト 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2026年4月〜2027年1月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2026年4月</a:t>
            </a:r>
            <a:br/>
            <a:r>
              <a:t>（現在）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E6B38"/>
                </a:solidFill>
                <a:latin typeface="Meiryo"/>
              </a:defRPr>
            </a:pPr>
            <a:r>
              <a:t>✅ Amazon月間3,500件・1位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E6B38"/>
                </a:solidFill>
                <a:latin typeface="Meiryo"/>
              </a:defRPr>
            </a:pPr>
            <a:r>
              <a:t>✅ 自社サイトリニューアル完了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E6B38"/>
                </a:solidFill>
                <a:latin typeface="Meiryo"/>
              </a:defRPr>
            </a:pPr>
            <a:r>
              <a:t>✅ AI香水診断稼働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72384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E6B38"/>
                </a:solidFill>
                <a:latin typeface="Meiryo"/>
              </a:defRPr>
            </a:pPr>
            <a:r>
              <a:t>✅ LINE CRMシナリオ設計完了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56432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E6B38"/>
                </a:solidFill>
                <a:latin typeface="Meiryo"/>
              </a:defRPr>
            </a:pPr>
            <a:r>
              <a:t>★ LINE配信 明日ローンチ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🔄 TikTok Shop 25件/月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60320" y="1371600"/>
            <a:ext cx="13716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97480" y="1188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2026年</a:t>
            </a:r>
            <a:br/>
            <a:r>
              <a:t>5〜6月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920240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TikTok SPS30件→プロモ解放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2304288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メルカリShop本格稼働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688336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Threads/Instagram開始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3072384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ナイトライト製作開始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3456432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ブログ100本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00600" y="1371600"/>
            <a:ext cx="13716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37760" y="1188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2026年</a:t>
            </a:r>
            <a:br/>
            <a:r>
              <a:t>7〜9月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1920240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TikTokレビュー50件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2304288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メルカリレビュー100件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688336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ナイトライト返送加工開始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3072384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フルボトル月間¥40-50万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40880" y="1371600"/>
            <a:ext cx="13716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78040" y="1188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2026年</a:t>
            </a:r>
            <a:br/>
            <a:r>
              <a:t>10〜12月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1920240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TikTok月間1,000件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8040" y="2304288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メルカリ月間750件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2688336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12月ピーク: 月商¥925万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3072384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ナイトライト月100個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3456432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11月: 守殿さん復帰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281160" y="1371600"/>
            <a:ext cx="13716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18320" y="1188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2027年</a:t>
            </a:r>
            <a:br/>
            <a:r>
              <a:t>1月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1920240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累計売上¥5,720万達成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2304288"/>
            <a:ext cx="210312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Meiryo"/>
              </a:defRPr>
            </a:pPr>
            <a:r>
              <a:t>□ 海外直接仕入れの検討開始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02920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"/>
              </a:defRPr>
            </a:pPr>
            <a:r>
              <a:t>10ヶ月で売上¥5,720万・営業利益¥1,462万を目指す</a:t>
            </a:r>
          </a:p>
          <a:p>
            <a:pPr algn="ctr">
              <a:defRPr sz="1400">
                <a:solidFill>
                  <a:srgbClr val="CCFFCC"/>
                </a:solidFill>
                <a:latin typeface="Meiryo"/>
              </a:defRPr>
            </a:pPr>
            <a:r>
              <a:t>Amazon基盤 × TikTok/メルカリ拡大 × LINE CRM育成 × ナイトライト新規事業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