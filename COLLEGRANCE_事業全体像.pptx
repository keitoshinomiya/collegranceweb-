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759"/>
              </a:lnSpc>
              <a:spcAft>
                <a:spcPts val="0"/>
              </a:spcAft>
              <a:defRPr sz="4800" b="1">
                <a:solidFill>
                  <a:srgbClr val="1A1A1A"/>
                </a:solidFill>
                <a:latin typeface="Meiryo"/>
              </a:defRPr>
            </a:pPr>
            <a:r>
              <a:t>COLLEGRANCE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743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Meiryo"/>
              </a:defRPr>
            </a:pPr>
            <a:r>
              <a:t>コレグランス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6576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666666"/>
                </a:solidFill>
                <a:latin typeface="Meiryo"/>
              </a:defRPr>
            </a:pPr>
            <a:r>
              <a:t>事業全体像  2026年4月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999999"/>
                </a:solidFill>
                <a:latin typeface="Meiryo"/>
              </a:defRPr>
            </a:pPr>
            <a:r>
              <a:t>合同会社ヤシノミ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3383280"/>
            <a:ext cx="2103120" cy="254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999999"/>
                </a:solidFill>
                <a:latin typeface="Meiryo"/>
              </a:defRPr>
            </a:pPr>
            <a:r>
              <a:t>COLLEGRANCE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1A1A1A"/>
                </a:solidFill>
                <a:latin typeface="Meiryo"/>
              </a:defRPr>
            </a:pPr>
            <a:r>
              <a:t>事業概要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371600" cy="381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10515600" cy="7315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3A7D44"/>
                </a:solidFill>
                <a:latin typeface="Meiryo"/>
              </a:defRPr>
            </a:pPr>
            <a:r>
              <a:t>ミッション:  「香りはえらべる。もっと自由に。」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Meiryo"/>
              </a:defRPr>
            </a:pPr>
            <a:r>
              <a:t>事業内容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333333"/>
                </a:solidFill>
                <a:latin typeface="Meiryo"/>
              </a:defRPr>
            </a:pP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  高級ブランド香水の小分け（1.5ml）お試し販売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  フルボトル直販（自社EC / collegrance.com）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333333"/>
                </a:solidFill>
                <a:latin typeface="Meiryo"/>
              </a:defRPr>
            </a:pPr>
            <a:r>
              <a:t>  化粧品製造業・化粧品製造販売業 許可取得済み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取扱:  130種類以上のブランド香水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333333"/>
                </a:solidFill>
                <a:latin typeface="Meiryo"/>
              </a:defRPr>
            </a:pPr>
          </a:p>
          <a:p>
            <a:pPr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666666"/>
                </a:solidFill>
                <a:latin typeface="Meiryo"/>
              </a:defRPr>
            </a:pPr>
            <a:r>
              <a:t>Maison Margiela / BYREDO / DIPTYQUE / DIOR / HERMES</a:t>
            </a:r>
          </a:p>
          <a:p>
            <a:pPr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666666"/>
                </a:solidFill>
                <a:latin typeface="Meiryo"/>
              </a:defRPr>
            </a:pPr>
            <a:r>
              <a:t>LE LABO / Jo Malone / NONFICTION / LOEWE / YSL  他多数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999999"/>
                </a:solidFill>
                <a:latin typeface="Meiryo"/>
              </a:defRPr>
            </a:pPr>
            <a:r>
              <a:t>COLLEGRANCE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1A1A1A"/>
                </a:solidFill>
                <a:latin typeface="Meiryo"/>
              </a:defRPr>
            </a:pPr>
            <a:r>
              <a:t>ビジネスモデル全体図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371600" cy="381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645920" cy="9144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A1A1A"/>
                </a:solidFill>
                <a:latin typeface="Meiryo"/>
              </a:defRPr>
            </a:pPr>
            <a:r>
              <a:t>認知</a:t>
            </a:r>
          </a:p>
          <a:p>
            <a:pPr algn="ctr">
              <a:defRPr sz="1200" b="1">
                <a:solidFill>
                  <a:srgbClr val="1A1A1A"/>
                </a:solidFill>
                <a:latin typeface="Meiryo"/>
              </a:defRPr>
            </a:pPr>
            <a:r>
              <a:t>(SNS/広告)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828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&gt;&gt;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1645920"/>
            <a:ext cx="1645920" cy="91440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A1A1A"/>
                </a:solidFill>
                <a:latin typeface="Meiryo"/>
              </a:defRPr>
            </a:pPr>
            <a:r>
              <a:t>初回購入</a:t>
            </a:r>
          </a:p>
          <a:p>
            <a:pPr algn="ctr">
              <a:defRPr sz="1200" b="1">
                <a:solidFill>
                  <a:srgbClr val="1A1A1A"/>
                </a:solidFill>
                <a:latin typeface="Meiryo"/>
              </a:defRPr>
            </a:pPr>
            <a:r>
              <a:t>(小分け)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828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&gt;&gt;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1645920"/>
            <a:ext cx="1645920" cy="9144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A1A1A"/>
                </a:solidFill>
                <a:latin typeface="Meiryo"/>
              </a:defRPr>
            </a:pPr>
            <a:r>
              <a:t>LINE登録</a:t>
            </a:r>
          </a:p>
          <a:p>
            <a:pPr algn="ctr">
              <a:defRPr sz="1200" b="1">
                <a:solidFill>
                  <a:srgbClr val="1A1A1A"/>
                </a:solidFill>
                <a:latin typeface="Meiryo"/>
              </a:defRPr>
            </a:pPr>
            <a:r>
              <a:t>(QRコード)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&gt;&gt;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1645920"/>
            <a:ext cx="1645920" cy="914400"/>
          </a:xfrm>
          <a:prstGeom prst="roundRect">
            <a:avLst/>
          </a:prstGeom>
          <a:solidFill>
            <a:srgbClr val="FDF0E3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A1A1A"/>
                </a:solidFill>
                <a:latin typeface="Meiryo"/>
              </a:defRPr>
            </a:pPr>
            <a:r>
              <a:t>育成</a:t>
            </a:r>
          </a:p>
          <a:p>
            <a:pPr algn="ctr">
              <a:defRPr sz="1200" b="1">
                <a:solidFill>
                  <a:srgbClr val="1A1A1A"/>
                </a:solidFill>
                <a:latin typeface="Meiryo"/>
              </a:defRPr>
            </a:pPr>
            <a:r>
              <a:t>(CRM配信)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828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3A7D44"/>
                </a:solidFill>
                <a:latin typeface="Meiryo"/>
              </a:defRPr>
            </a:pPr>
            <a:r>
              <a:t>&gt;&gt;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1645920"/>
            <a:ext cx="1645920" cy="914400"/>
          </a:xfrm>
          <a:prstGeom prst="roundRect">
            <a:avLst/>
          </a:prstGeom>
          <a:solidFill>
            <a:srgbClr val="F3E5F5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A1A1A"/>
                </a:solidFill>
                <a:latin typeface="Meiryo"/>
              </a:defRPr>
            </a:pPr>
            <a:r>
              <a:t>フルボトル</a:t>
            </a:r>
          </a:p>
          <a:p>
            <a:pPr algn="ctr">
              <a:defRPr sz="1200" b="1">
                <a:solidFill>
                  <a:srgbClr val="1A1A1A"/>
                </a:solidFill>
                <a:latin typeface="Meiryo"/>
              </a:defRPr>
            </a:pPr>
            <a:r>
              <a:t>クロスセル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8686800" y="2651760"/>
            <a:ext cx="274320" cy="274320"/>
          </a:xfrm>
          <a:prstGeom prst="down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0" y="3200400"/>
            <a:ext cx="4114800" cy="640080"/>
          </a:xfrm>
          <a:prstGeom prst="roundRect">
            <a:avLst/>
          </a:prstGeom>
          <a:solidFill>
            <a:srgbClr val="FCE4EC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  <a:latin typeface="Meiryo"/>
              </a:defRPr>
            </a:pPr>
            <a:r>
              <a:t>空き瓶 → ナイトライト製作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8686800" y="3840480"/>
            <a:ext cx="274320" cy="274320"/>
          </a:xfrm>
          <a:prstGeom prst="down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0" y="4206240"/>
            <a:ext cx="4114800" cy="6400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  <a:latin typeface="Meiryo"/>
              </a:defRPr>
            </a:pPr>
            <a:r>
              <a:t>SNSコンテンツ化 → 認知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846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3A7D44"/>
                </a:solidFill>
                <a:latin typeface="Meiryo"/>
              </a:defRPr>
            </a:pPr>
            <a:r>
              <a:t>↻ サステナブル・ループ（認知に還流）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0040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66666"/>
                </a:solidFill>
                <a:latin typeface="Meiryo"/>
              </a:defRPr>
            </a:pPr>
            <a:r>
              <a:t>ポイント:</a:t>
            </a:r>
            <a:br/>
            <a:r>
              <a:t>- 小分け → LINE登録 → フルボトルのステップアップモデル</a:t>
            </a:r>
            <a:br/>
            <a:r>
              <a:t>- 広告費をAmazonに集中投下し、LINE CRMで回収</a:t>
            </a:r>
            <a:br/>
            <a:r>
              <a:t>- 空き瓶をナイトライトに再利用 → SNSコンテンツ化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999999"/>
                </a:solidFill>
                <a:latin typeface="Meiryo"/>
              </a:defRPr>
            </a:pPr>
            <a:r>
              <a:t>COLLEGRANCE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1A1A1A"/>
                </a:solidFill>
                <a:latin typeface="Meiryo"/>
              </a:defRPr>
            </a:pPr>
            <a:r>
              <a:t>販売チャネル一覧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371600" cy="381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058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チャネル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商品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役割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月間売上規模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Amazon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小分け + ケース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集客 + マネタイズ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広告費 約100万/月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TikTok Shop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小分け + ケース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コンテンツ → 販売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立ち上げ中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メルカリShop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小分け + ケース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販売チャネル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自社EC (Stripe)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フルボトル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高利益率の本命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成長中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自社EC (予定)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ナイトライト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サステナブル商品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準備中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66666"/>
                </a:solidFill>
                <a:latin typeface="Meiryo"/>
              </a:defRPr>
            </a:pPr>
            <a:r>
              <a:t>戦略: Amazonで広告費を投下して集客 → LINE CRMで育成 → 自社ECで高利益率のフルボトルを販売</a:t>
            </a:r>
            <a:br/>
            <a:r>
              <a:t>TikTok Shopはコンテンツ（動画）をベースにした新しい販売チャネルとして立ち上げ中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999999"/>
                </a:solidFill>
                <a:latin typeface="Meiryo"/>
              </a:defRPr>
            </a:pPr>
            <a:r>
              <a:t>COLLEGRANCE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1A1A1A"/>
                </a:solidFill>
                <a:latin typeface="Meiryo"/>
              </a:defRPr>
            </a:pPr>
            <a:r>
              <a:t>集客 → LINE登録の導線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371600" cy="381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0" y="1188720"/>
            <a:ext cx="4572000" cy="822960"/>
          </a:xfrm>
          <a:prstGeom prst="roundRect">
            <a:avLst/>
          </a:prstGeom>
          <a:solidFill>
            <a:srgbClr val="FFA726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A1A1A"/>
                </a:solidFill>
                <a:latin typeface="Meiryo"/>
              </a:defRPr>
            </a:pPr>
            <a:r>
              <a:t>Amazon購入</a:t>
            </a:r>
          </a:p>
          <a:p>
            <a:pPr algn="ctr">
              <a:defRPr sz="1200" b="1">
                <a:solidFill>
                  <a:srgbClr val="1A1A1A"/>
                </a:solidFill>
                <a:latin typeface="Meiryo"/>
              </a:defRPr>
            </a:pPr>
            <a:r>
              <a:t>（広告費 100万/月）</a:t>
            </a:r>
          </a:p>
        </p:txBody>
      </p:sp>
      <p:sp>
        <p:nvSpPr>
          <p:cNvPr id="5" name="Down Arrow 4"/>
          <p:cNvSpPr/>
          <p:nvPr/>
        </p:nvSpPr>
        <p:spPr>
          <a:xfrm>
            <a:off x="5806440" y="2011680"/>
            <a:ext cx="274320" cy="274320"/>
          </a:xfrm>
          <a:prstGeom prst="down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0" y="2377440"/>
            <a:ext cx="4572000" cy="8229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A1A1A"/>
                </a:solidFill>
                <a:latin typeface="Meiryo"/>
              </a:defRPr>
            </a:pPr>
            <a:r>
              <a:t>パッケージ内QRコード</a:t>
            </a:r>
          </a:p>
          <a:p>
            <a:pPr algn="ctr">
              <a:defRPr sz="1200" b="1">
                <a:solidFill>
                  <a:srgbClr val="1A1A1A"/>
                </a:solidFill>
                <a:latin typeface="Meiryo"/>
              </a:defRPr>
            </a:pPr>
            <a:r>
              <a:t>「アンケート回答で</a:t>
            </a:r>
          </a:p>
          <a:p>
            <a:pPr algn="ctr">
              <a:defRPr sz="1200" b="1">
                <a:solidFill>
                  <a:srgbClr val="1A1A1A"/>
                </a:solidFill>
                <a:latin typeface="Meiryo"/>
              </a:defRPr>
            </a:pPr>
            <a:r>
              <a:t>オリジナルケースプレゼント」</a:t>
            </a:r>
          </a:p>
        </p:txBody>
      </p:sp>
      <p:sp>
        <p:nvSpPr>
          <p:cNvPr id="7" name="Down Arrow 6"/>
          <p:cNvSpPr/>
          <p:nvPr/>
        </p:nvSpPr>
        <p:spPr>
          <a:xfrm>
            <a:off x="5806440" y="3200400"/>
            <a:ext cx="274320" cy="274320"/>
          </a:xfrm>
          <a:prstGeom prst="down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0" y="3566160"/>
            <a:ext cx="4572000" cy="8229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A1A1A"/>
                </a:solidFill>
                <a:latin typeface="Meiryo"/>
              </a:defRPr>
            </a:pPr>
            <a:r>
              <a:t>LINE公式アカウント登録</a:t>
            </a:r>
          </a:p>
          <a:p>
            <a:pPr algn="ctr">
              <a:defRPr sz="1200" b="1">
                <a:solidFill>
                  <a:srgbClr val="1A1A1A"/>
                </a:solidFill>
                <a:latin typeface="Meiryo"/>
              </a:defRPr>
            </a:pPr>
            <a:r>
              <a:t>登録率: 約5%</a:t>
            </a:r>
          </a:p>
          <a:p>
            <a:pPr algn="ctr">
              <a:defRPr sz="1200" b="1">
                <a:solidFill>
                  <a:srgbClr val="1A1A1A"/>
                </a:solidFill>
                <a:latin typeface="Meiryo"/>
              </a:defRPr>
            </a:pPr>
            <a:r>
              <a:t>友だち: 1,300人</a:t>
            </a:r>
          </a:p>
        </p:txBody>
      </p:sp>
      <p:sp>
        <p:nvSpPr>
          <p:cNvPr id="9" name="Down Arrow 8"/>
          <p:cNvSpPr/>
          <p:nvPr/>
        </p:nvSpPr>
        <p:spPr>
          <a:xfrm>
            <a:off x="5806440" y="4389120"/>
            <a:ext cx="274320" cy="274320"/>
          </a:xfrm>
          <a:prstGeom prst="downArrow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0" y="4754880"/>
            <a:ext cx="4572000" cy="82296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A1A1A"/>
                </a:solidFill>
                <a:latin typeface="Meiryo"/>
              </a:defRPr>
            </a:pPr>
            <a:r>
              <a:t>LINE Harness</a:t>
            </a:r>
          </a:p>
          <a:p>
            <a:pPr algn="ctr">
              <a:defRPr sz="1200" b="1">
                <a:solidFill>
                  <a:srgbClr val="1A1A1A"/>
                </a:solidFill>
                <a:latin typeface="Meiryo"/>
              </a:defRPr>
            </a:pPr>
            <a:r>
              <a:t>（自社開発CRM）で</a:t>
            </a:r>
          </a:p>
          <a:p>
            <a:pPr algn="ctr">
              <a:defRPr sz="1200" b="1">
                <a:solidFill>
                  <a:srgbClr val="1A1A1A"/>
                </a:solidFill>
                <a:latin typeface="Meiryo"/>
              </a:defRPr>
            </a:pPr>
            <a:r>
              <a:t>シナリオ配信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188720"/>
            <a:ext cx="2743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Meiryo"/>
              </a:defRPr>
            </a:pPr>
            <a:r>
              <a:t>導線設計のポイント:</a:t>
            </a:r>
            <a:br/>
            <a:br/>
            <a:r>
              <a:t>1. 広告費はAmazonに集中</a:t>
            </a:r>
            <a:br/>
            <a:br/>
            <a:r>
              <a:t>2. 物理的なQRコードで</a:t>
            </a:r>
            <a:br/>
            <a:r>
              <a:t>   LINE登録を促進</a:t>
            </a:r>
            <a:br/>
            <a:br/>
            <a:r>
              <a:t>3. 「ケースプレゼント」で</a:t>
            </a:r>
            <a:br/>
            <a:r>
              <a:t>   登録インセンティブ付与</a:t>
            </a:r>
            <a:br/>
            <a:br/>
            <a:r>
              <a:t>4. 自社開発CRMで</a:t>
            </a:r>
            <a:br/>
            <a:r>
              <a:t>   パーソナライズ配信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999999"/>
                </a:solidFill>
                <a:latin typeface="Meiryo"/>
              </a:defRPr>
            </a:pPr>
            <a:r>
              <a:t>COLLEGRANCE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1A1A1A"/>
                </a:solidFill>
                <a:latin typeface="Meiryo"/>
              </a:defRPr>
            </a:pPr>
            <a:r>
              <a:t>LINE CRM → マネタイズの導線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371600" cy="381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Meiryo"/>
              </a:defRPr>
            </a:pPr>
            <a:r>
              <a:t>LINE Harness シナリオ配信</a:t>
            </a:r>
          </a:p>
          <a:p>
            <a:pPr>
              <a:lnSpc>
                <a:spcPts val="780"/>
              </a:lnSpc>
              <a:spcAft>
                <a:spcPts val="200"/>
              </a:spcAft>
              <a:defRPr sz="600" b="0">
                <a:solidFill>
                  <a:srgbClr val="333333"/>
                </a:solidFill>
                <a:latin typeface="Meiryo"/>
              </a:defRPr>
            </a:pPr>
          </a:p>
          <a:p>
            <a:pPr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Day 0:   ウェルカム + 購入商品タグ付け</a:t>
            </a:r>
          </a:p>
          <a:p>
            <a:pPr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Day 3:   「香りはいかがですか?」フォローアップ</a:t>
            </a:r>
          </a:p>
          <a:p>
            <a:pPr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Day 7:   フルボトルLP配信 → 自社EC購入</a:t>
            </a:r>
          </a:p>
          <a:p>
            <a:pPr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Day 14: AI香水診断誘導 → 別の香りを提案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333333"/>
                </a:solidFill>
                <a:latin typeface="Meiryo"/>
              </a:defRPr>
            </a:pPr>
          </a:p>
          <a:p>
            <a:pPr>
              <a:lnSpc>
                <a:spcPts val="1560"/>
              </a:lnSpc>
              <a:spcAft>
                <a:spcPts val="200"/>
              </a:spcAft>
              <a:defRPr sz="1200" b="1">
                <a:solidFill>
                  <a:srgbClr val="3A7D44"/>
                </a:solidFill>
                <a:latin typeface="Meiryo"/>
              </a:defRPr>
            </a:pPr>
            <a:r>
              <a:t>アンケート: 「次に試したい香りは?」</a:t>
            </a:r>
          </a:p>
          <a:p>
            <a:pPr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  → 小分けおすすめLP → Amazon購入（クロスセル）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1097280"/>
            <a:ext cx="4572000" cy="3200400"/>
          </a:xfrm>
          <a:prstGeom prst="roundRect">
            <a:avLst/>
          </a:prstGeom>
          <a:solidFill>
            <a:srgbClr val="F5F0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パーソナライズ配信の仕組み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商品IDに応じてURLを動的生成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例: BYREDO Gypsy Water 購入者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→ 類似の香り（ウッディ系）を提案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→ 専用LPのURLを自動生成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LINE Harness（自社開発）で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タグ・セグメント管理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66666"/>
                </a:solidFill>
                <a:latin typeface="Meiryo"/>
              </a:defRPr>
            </a:pPr>
            <a:r>
              <a:t>KPI:  LINE登録率 5% → フルボトル購入率の向上が目標  /  小分け→小分けのクロスセルも重要な収益源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999999"/>
                </a:solidFill>
                <a:latin typeface="Meiryo"/>
              </a:defRPr>
            </a:pPr>
            <a:r>
              <a:t>COLLEGRANCE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1A1A1A"/>
                </a:solidFill>
                <a:latin typeface="Meiryo"/>
              </a:defRPr>
            </a:pPr>
            <a:r>
              <a:t>SNS戦略（現在 + 今後）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371600" cy="381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3200400" cy="22860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【稼働中】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TikTok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(@collegrance)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みのべさんが毎日1本投稿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アルゴリズム研究中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→ TikTok Shop誘導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097280"/>
            <a:ext cx="3200400" cy="228600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【今後】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Threads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代表(keito)が中の人として投稿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→ ブランド認知 + サイト流入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Instagram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世界観構築 + ストーリーズ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→ プロフリンクからAI診断へ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097280"/>
            <a:ext cx="3200400" cy="2286000"/>
          </a:xfrm>
          <a:prstGeom prst="roundRect">
            <a:avLst/>
          </a:prstGeom>
          <a:solidFill>
            <a:srgbClr val="FCE4EC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【新施策】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ナイトライト製作動画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（3Dプリンタ x 空き瓶）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→ サステナブル路線の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  コンテンツ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→ TikTok Shop + 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  自社サイトで販売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66666"/>
                </a:solidFill>
                <a:latin typeface="Meiryo"/>
              </a:defRPr>
            </a:pPr>
            <a:r>
              <a:t>SNS全体戦略:  各プラットフォームの特性を活かした役割分担</a:t>
            </a:r>
            <a:br/>
            <a:r>
              <a:t>  TikTok = 動画で商品認知 + 販売  /  Threads = テキストでブランド認知  /  Instagram = ビジュアルで世界観構築</a:t>
            </a:r>
            <a:br/>
            <a:r>
              <a:t>  全てのSNSから collegrance.com（AI診断・ブログ・EC）への流入を狙う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999999"/>
                </a:solidFill>
                <a:latin typeface="Meiryo"/>
              </a:defRPr>
            </a:pPr>
            <a:r>
              <a:t>COLLEGRANCE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1A1A1A"/>
                </a:solidFill>
                <a:latin typeface="Meiryo"/>
              </a:defRPr>
            </a:pPr>
            <a:r>
              <a:t>自社サイト（collegrance.com）の機能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371600" cy="381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3200400" cy="1645920"/>
          </a:xfrm>
          <a:prstGeom prst="roundRect">
            <a:avLst/>
          </a:prstGeom>
          <a:solidFill>
            <a:srgbClr val="F3E5F5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1A"/>
                </a:solidFill>
                <a:latin typeface="Meiryo"/>
              </a:defRPr>
            </a:pPr>
            <a:r>
              <a:t>AI香水診断</a:t>
            </a:r>
          </a:p>
          <a:p>
            <a:pPr>
              <a:defRPr sz="600"/>
            </a:pP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Claude AIが130種類から</a:t>
            </a: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最適な3本を提案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188720"/>
            <a:ext cx="3200400" cy="164592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1A"/>
                </a:solidFill>
                <a:latin typeface="Meiryo"/>
              </a:defRPr>
            </a:pPr>
            <a:r>
              <a:t>フルボトルEC</a:t>
            </a:r>
          </a:p>
          <a:p>
            <a:pPr>
              <a:defRPr sz="600"/>
            </a:pP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Stripe決済</a:t>
            </a: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130種類以上の商品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188720"/>
            <a:ext cx="3200400" cy="16459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1A"/>
                </a:solidFill>
                <a:latin typeface="Meiryo"/>
              </a:defRPr>
            </a:pPr>
            <a:r>
              <a:t>ブログ(Journal)</a:t>
            </a:r>
          </a:p>
          <a:p>
            <a:pPr>
              <a:defRPr sz="600"/>
            </a:pP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SEO記事 60本公開</a:t>
            </a: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（100本目標）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3200400" cy="16459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1A"/>
                </a:solidFill>
                <a:latin typeface="Meiryo"/>
              </a:defRPr>
            </a:pPr>
            <a:r>
              <a:t>小分けLP</a:t>
            </a:r>
          </a:p>
          <a:p>
            <a:pPr>
              <a:defRPr sz="600"/>
            </a:pP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LINE配信のリンク先</a:t>
            </a: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商品ID連動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3108960"/>
            <a:ext cx="3200400" cy="1645920"/>
          </a:xfrm>
          <a:prstGeom prst="roundRect">
            <a:avLst/>
          </a:prstGeom>
          <a:solidFill>
            <a:srgbClr val="FDF0E3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1A"/>
                </a:solidFill>
                <a:latin typeface="Meiryo"/>
              </a:defRPr>
            </a:pPr>
            <a:r>
              <a:t>フルボトルLP</a:t>
            </a:r>
          </a:p>
          <a:p>
            <a:pPr>
              <a:defRPr sz="600"/>
            </a:pP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小分け購入者を</a:t>
            </a: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フルボトルへ誘導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3108960"/>
            <a:ext cx="3200400" cy="1645920"/>
          </a:xfrm>
          <a:prstGeom prst="roundRect">
            <a:avLst/>
          </a:prstGeom>
          <a:solidFill>
            <a:srgbClr val="FCE4EC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1A"/>
                </a:solidFill>
                <a:latin typeface="Meiryo"/>
              </a:defRPr>
            </a:pPr>
            <a:r>
              <a:t>GA4トラッキング</a:t>
            </a:r>
          </a:p>
          <a:p>
            <a:pPr>
              <a:defRPr sz="600"/>
            </a:pP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全チャネルの</a:t>
            </a: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流入→行動→購入を計測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999999"/>
                </a:solidFill>
                <a:latin typeface="Meiryo"/>
              </a:defRPr>
            </a:pPr>
            <a:r>
              <a:t>商品パーマリンク・llms.txt 等、AI検索エンジンに参照される構造も整備済み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999999"/>
                </a:solidFill>
                <a:latin typeface="Meiryo"/>
              </a:defRPr>
            </a:pPr>
            <a:r>
              <a:t>COLLEGRANCE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1A1A1A"/>
                </a:solidFill>
                <a:latin typeface="Meiryo"/>
              </a:defRPr>
            </a:pPr>
            <a:r>
              <a:t>データ計測・レポート体制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371600" cy="381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5029200" cy="109728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GA4で全チャネル統合計測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Threads / Instagram / TikTok / LINE / Google / Amazon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→ サイト訪問 → 行動追跡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97280"/>
            <a:ext cx="5029200" cy="10972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自動レポート（Slack配信）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日次: 流入元別セッション、診断/購入数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週次: 前週比、ファネル分析</a:t>
            </a:r>
          </a:p>
          <a:p>
            <a:pPr algn="l">
              <a:defRPr sz="1100" b="0">
                <a:solidFill>
                  <a:srgbClr val="1A1A1A"/>
                </a:solidFill>
                <a:latin typeface="Meiryo"/>
              </a:defRPr>
            </a:pPr>
            <a:r>
              <a:t>月次: チャネル別ROI、改善ポイント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A1A1A"/>
                </a:solidFill>
                <a:latin typeface="Meiryo"/>
              </a:defRPr>
            </a:pPr>
            <a:r>
              <a:t>直近30日実績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3108960"/>
          <a:ext cx="4572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指標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数値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モバイルセッション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585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ユーザー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441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LINE流入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Google検索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16%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Direct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33333"/>
                          </a:solidFill>
                          <a:latin typeface="Meiryo"/>
                        </a:defRPr>
                      </a:pPr>
                      <a:r>
                        <a:t>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25603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1A1A1A"/>
                </a:solidFill>
                <a:latin typeface="Meiryo"/>
              </a:defRPr>
            </a:pPr>
            <a:r>
              <a:t>計測で重視しているKPI</a:t>
            </a:r>
          </a:p>
          <a:p>
            <a:pPr>
              <a:lnSpc>
                <a:spcPts val="780"/>
              </a:lnSpc>
              <a:spcAft>
                <a:spcPts val="200"/>
              </a:spcAft>
              <a:defRPr sz="600" b="0">
                <a:solidFill>
                  <a:srgbClr val="333333"/>
                </a:solidFill>
                <a:latin typeface="Meiryo"/>
              </a:defRPr>
            </a:pPr>
          </a:p>
          <a:p>
            <a:pPr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- LINE登録率（Amazon購入者 → LINE）</a:t>
            </a:r>
          </a:p>
          <a:p>
            <a:pPr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- フルボトル転換率（小分け → フルボトル）</a:t>
            </a:r>
          </a:p>
          <a:p>
            <a:pPr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- AI診断完了率（サイト訪問 → 診断完了）</a:t>
            </a:r>
          </a:p>
          <a:p>
            <a:pPr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- チャネル別CPA（広告費 / LINE登録数）</a:t>
            </a:r>
          </a:p>
          <a:p>
            <a:pPr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333333"/>
                </a:solidFill>
                <a:latin typeface="Meiryo"/>
              </a:defRPr>
            </a:pPr>
            <a:r>
              <a:t>- LTV（初回購入 → 2回目以降の累計売上）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999999"/>
                </a:solidFill>
                <a:latin typeface="Meiryo"/>
              </a:defRPr>
            </a:pPr>
            <a:r>
              <a:t>COLLEGRANCE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1A1A1A"/>
                </a:solidFill>
                <a:latin typeface="Meiryo"/>
              </a:defRPr>
            </a:pPr>
            <a:r>
              <a:t>自動化レイヤー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371600" cy="381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468880" cy="1645920"/>
          </a:xfrm>
          <a:prstGeom prst="roundRect">
            <a:avLst/>
          </a:prstGeom>
          <a:solidFill>
            <a:srgbClr val="F3E5F5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1A"/>
                </a:solidFill>
                <a:latin typeface="Meiryo"/>
              </a:defRPr>
            </a:pPr>
            <a:r>
              <a:t>コンテンツ</a:t>
            </a:r>
          </a:p>
          <a:p>
            <a:pPr>
              <a:defRPr sz="800"/>
            </a:pP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Claude Code + Nano Banana</a:t>
            </a: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→ ブログ記事自動生成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188720"/>
            <a:ext cx="2468880" cy="164592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1A"/>
                </a:solidFill>
                <a:latin typeface="Meiryo"/>
              </a:defRPr>
            </a:pPr>
            <a:r>
              <a:t>在庫管理</a:t>
            </a:r>
          </a:p>
          <a:p>
            <a:pPr>
              <a:defRPr sz="800"/>
            </a:pP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weekly-update.py</a:t>
            </a: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→ Gmail→価格更新→自動デプロイ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188720"/>
            <a:ext cx="2468880" cy="16459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1A"/>
                </a:solidFill>
                <a:latin typeface="Meiryo"/>
              </a:defRPr>
            </a:pPr>
            <a:r>
              <a:t>決済</a:t>
            </a:r>
          </a:p>
          <a:p>
            <a:pPr>
              <a:defRPr sz="800"/>
            </a:pP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Stripe Webhook</a:t>
            </a: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→ Slack注文通知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0" y="1188720"/>
            <a:ext cx="2468880" cy="1645920"/>
          </a:xfrm>
          <a:prstGeom prst="roundRect">
            <a:avLst/>
          </a:prstGeom>
          <a:solidFill>
            <a:srgbClr val="FDF0E3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1A"/>
                </a:solidFill>
                <a:latin typeface="Meiryo"/>
              </a:defRPr>
            </a:pPr>
            <a:r>
              <a:t>AI診断</a:t>
            </a:r>
          </a:p>
          <a:p>
            <a:pPr>
              <a:defRPr sz="800"/>
            </a:pP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Claude Haiku API</a:t>
            </a: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→ カタログ連動推薦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08960"/>
            <a:ext cx="2468880" cy="1645920"/>
          </a:xfrm>
          <a:prstGeom prst="roundRect">
            <a:avLst/>
          </a:prstGeom>
          <a:solidFill>
            <a:srgbClr val="FCE4EC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1A"/>
                </a:solidFill>
                <a:latin typeface="Meiryo"/>
              </a:defRPr>
            </a:pPr>
            <a:r>
              <a:t>CRM</a:t>
            </a:r>
          </a:p>
          <a:p>
            <a:pPr>
              <a:defRPr sz="800"/>
            </a:pP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LINE Harness</a:t>
            </a: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→ シナリオ自動配信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3108960"/>
            <a:ext cx="2468880" cy="16459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1A"/>
                </a:solidFill>
                <a:latin typeface="Meiryo"/>
              </a:defRPr>
            </a:pPr>
            <a:r>
              <a:t>レポート</a:t>
            </a:r>
          </a:p>
          <a:p>
            <a:pPr>
              <a:defRPr sz="800"/>
            </a:pP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sns-report.py</a:t>
            </a: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→ GA4→Slack 日次/週次/月次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108960"/>
            <a:ext cx="2468880" cy="1645920"/>
          </a:xfrm>
          <a:prstGeom prst="roundRect">
            <a:avLst/>
          </a:prstGeom>
          <a:solidFill>
            <a:srgbClr val="F5F0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1A"/>
                </a:solidFill>
                <a:latin typeface="Meiryo"/>
              </a:defRPr>
            </a:pPr>
            <a:r>
              <a:t>AI最適化</a:t>
            </a:r>
          </a:p>
          <a:p>
            <a:pPr>
              <a:defRPr sz="800"/>
            </a:pP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llms.txt</a:t>
            </a:r>
          </a:p>
          <a:p>
            <a:pPr algn="ctr">
              <a:defRPr sz="1100">
                <a:solidFill>
                  <a:srgbClr val="333333"/>
                </a:solidFill>
                <a:latin typeface="Meiryo"/>
              </a:defRPr>
            </a:pPr>
            <a:r>
              <a:t>→ AI検索エンジン参照構造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66666"/>
                </a:solidFill>
                <a:latin typeface="Meiryo"/>
              </a:defRPr>
            </a:pPr>
            <a:r>
              <a:t>全ての自動化は Mac Mini（定期実行サーバー）+ Claude Code で構築。</a:t>
            </a:r>
            <a:br/>
            <a:r>
              <a:t>人手を最小限にしつつ、品質と鮮度を保つ運用体制。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999999"/>
                </a:solidFill>
                <a:latin typeface="Meiryo"/>
              </a:defRPr>
            </a:pPr>
            <a:r>
              <a:t>COLLEGRANCE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1A1A1A"/>
                </a:solidFill>
                <a:latin typeface="Meiryo"/>
              </a:defRPr>
            </a:pPr>
            <a:r>
              <a:t>今後のロードマップ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371600" cy="381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3291840" cy="41148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  <a:defRPr sz="1600" b="1">
                <a:solidFill>
                  <a:srgbClr val="1A1A1A"/>
                </a:solidFill>
                <a:latin typeface="Meiryo"/>
              </a:defRPr>
            </a:pPr>
            <a:r>
              <a:t>2026年4月（現在）</a:t>
            </a:r>
          </a:p>
          <a:p>
            <a:pPr>
              <a:defRPr sz="600"/>
            </a:pPr>
          </a:p>
          <a:p>
            <a:pPr algn="l">
              <a:lnSpc>
                <a:spcPts val="1800"/>
              </a:lnSpc>
              <a:spcAft>
                <a:spcPts val="400"/>
              </a:spcAft>
              <a:defRPr sz="1200">
                <a:solidFill>
                  <a:srgbClr val="3A7D44"/>
                </a:solidFill>
                <a:latin typeface="Meiryo"/>
              </a:defRPr>
            </a:pPr>
            <a:r>
              <a:t>  [Done]  自社サイトリニューアル完了</a:t>
            </a:r>
          </a:p>
          <a:p>
            <a:pPr algn="l">
              <a:lnSpc>
                <a:spcPts val="1800"/>
              </a:lnSpc>
              <a:spcAft>
                <a:spcPts val="400"/>
              </a:spcAft>
              <a:defRPr sz="1200">
                <a:solidFill>
                  <a:srgbClr val="3A7D44"/>
                </a:solidFill>
                <a:latin typeface="Meiryo"/>
              </a:defRPr>
            </a:pPr>
            <a:r>
              <a:t>  [Done]  AI香水診断稼働</a:t>
            </a:r>
          </a:p>
          <a:p>
            <a:pPr algn="l">
              <a:lnSpc>
                <a:spcPts val="1800"/>
              </a:lnSpc>
              <a:spcAft>
                <a:spcPts val="400"/>
              </a:spcAft>
              <a:defRPr sz="1200">
                <a:solidFill>
                  <a:srgbClr val="3A7D44"/>
                </a:solidFill>
                <a:latin typeface="Meiryo"/>
              </a:defRPr>
            </a:pPr>
            <a:r>
              <a:t>  [Done]  ブログ60本公開</a:t>
            </a:r>
          </a:p>
          <a:p>
            <a:pPr algn="l">
              <a:lnSpc>
                <a:spcPts val="1800"/>
              </a:lnSpc>
              <a:spcAft>
                <a:spcPts val="400"/>
              </a:spcAft>
              <a:defRPr sz="1200">
                <a:solidFill>
                  <a:srgbClr val="3A7D44"/>
                </a:solidFill>
                <a:latin typeface="Meiryo"/>
              </a:defRPr>
            </a:pPr>
            <a:r>
              <a:t>  [Done]  LINE CRM シナリオ配信</a:t>
            </a:r>
          </a:p>
          <a:p>
            <a:pPr algn="l">
              <a:lnSpc>
                <a:spcPts val="1800"/>
              </a:lnSpc>
              <a:spcAft>
                <a:spcPts val="400"/>
              </a:spcAft>
              <a:defRPr sz="1200">
                <a:solidFill>
                  <a:srgbClr val="3A7D44"/>
                </a:solidFill>
                <a:latin typeface="Meiryo"/>
              </a:defRPr>
            </a:pPr>
            <a:r>
              <a:t>  [Done]  フルボトルEC（Stripe）</a:t>
            </a:r>
          </a:p>
          <a:p>
            <a:pPr algn="l">
              <a:lnSpc>
                <a:spcPts val="1800"/>
              </a:lnSpc>
              <a:spcAft>
                <a:spcPts val="400"/>
              </a:spcAft>
              <a:defRPr sz="1200">
                <a:solidFill>
                  <a:srgbClr val="3A7D44"/>
                </a:solidFill>
                <a:latin typeface="Meiryo"/>
              </a:defRPr>
            </a:pPr>
            <a:r>
              <a:t>  [Done]  GA4トラッキング+レポート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3063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3A7D44"/>
                </a:solidFill>
                <a:latin typeface="Meiryo"/>
              </a:defRPr>
            </a:pPr>
            <a:r>
              <a:t>&gt;&gt;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188720"/>
            <a:ext cx="3291840" cy="411480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  <a:defRPr sz="1600" b="1">
                <a:solidFill>
                  <a:srgbClr val="1A1A1A"/>
                </a:solidFill>
                <a:latin typeface="Meiryo"/>
              </a:defRPr>
            </a:pPr>
            <a:r>
              <a:t>2026年5月</a:t>
            </a:r>
          </a:p>
          <a:p>
            <a:pPr>
              <a:defRPr sz="600"/>
            </a:pPr>
          </a:p>
          <a:p>
            <a:pPr algn="l">
              <a:lnSpc>
                <a:spcPts val="1800"/>
              </a:lnSpc>
              <a:spcAft>
                <a:spcPts val="400"/>
              </a:spcAft>
              <a:defRPr sz="1200">
                <a:solidFill>
                  <a:srgbClr val="333333"/>
                </a:solidFill>
                <a:latin typeface="Meiryo"/>
              </a:defRPr>
            </a:pPr>
            <a:r>
              <a:t>  [    ]  Threads / Instagram開始</a:t>
            </a:r>
          </a:p>
          <a:p>
            <a:pPr algn="l">
              <a:lnSpc>
                <a:spcPts val="1800"/>
              </a:lnSpc>
              <a:spcAft>
                <a:spcPts val="400"/>
              </a:spcAft>
              <a:defRPr sz="1200">
                <a:solidFill>
                  <a:srgbClr val="333333"/>
                </a:solidFill>
                <a:latin typeface="Meiryo"/>
              </a:defRPr>
            </a:pPr>
            <a:r>
              <a:t>  [    ]  ブログ100本到達</a:t>
            </a:r>
          </a:p>
          <a:p>
            <a:pPr algn="l">
              <a:lnSpc>
                <a:spcPts val="1800"/>
              </a:lnSpc>
              <a:spcAft>
                <a:spcPts val="400"/>
              </a:spcAft>
              <a:defRPr sz="1200">
                <a:solidFill>
                  <a:srgbClr val="333333"/>
                </a:solidFill>
                <a:latin typeface="Meiryo"/>
              </a:defRPr>
            </a:pPr>
            <a:r>
              <a:t>  [    ]  ナイトライト製作開始</a:t>
            </a:r>
          </a:p>
          <a:p>
            <a:pPr algn="l">
              <a:lnSpc>
                <a:spcPts val="1800"/>
              </a:lnSpc>
              <a:spcAft>
                <a:spcPts val="400"/>
              </a:spcAft>
              <a:defRPr sz="1200">
                <a:solidFill>
                  <a:srgbClr val="333333"/>
                </a:solidFill>
                <a:latin typeface="Meiryo"/>
              </a:defRPr>
            </a:pPr>
            <a:r>
              <a:t>  [    ]  TikTok Shop ナイトライト出品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063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3A7D44"/>
                </a:solidFill>
                <a:latin typeface="Meiryo"/>
              </a:defRPr>
            </a:pPr>
            <a:r>
              <a:t>&gt;&gt;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188720"/>
            <a:ext cx="3291840" cy="4114800"/>
          </a:xfrm>
          <a:prstGeom prst="roundRect">
            <a:avLst/>
          </a:prstGeom>
          <a:solidFill>
            <a:srgbClr val="F3E5F5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  <a:defRPr sz="1600" b="1">
                <a:solidFill>
                  <a:srgbClr val="1A1A1A"/>
                </a:solidFill>
                <a:latin typeface="Meiryo"/>
              </a:defRPr>
            </a:pPr>
            <a:r>
              <a:t>2026年 Q3</a:t>
            </a:r>
          </a:p>
          <a:p>
            <a:pPr>
              <a:defRPr sz="600"/>
            </a:pPr>
          </a:p>
          <a:p>
            <a:pPr algn="l">
              <a:lnSpc>
                <a:spcPts val="1800"/>
              </a:lnSpc>
              <a:spcAft>
                <a:spcPts val="400"/>
              </a:spcAft>
              <a:defRPr sz="1200">
                <a:solidFill>
                  <a:srgbClr val="333333"/>
                </a:solidFill>
                <a:latin typeface="Meiryo"/>
              </a:defRPr>
            </a:pPr>
            <a:r>
              <a:t>  [    ]  SNS流入の本格化</a:t>
            </a:r>
          </a:p>
          <a:p>
            <a:pPr algn="l">
              <a:lnSpc>
                <a:spcPts val="1800"/>
              </a:lnSpc>
              <a:spcAft>
                <a:spcPts val="400"/>
              </a:spcAft>
              <a:defRPr sz="1200">
                <a:solidFill>
                  <a:srgbClr val="333333"/>
                </a:solidFill>
                <a:latin typeface="Meiryo"/>
              </a:defRPr>
            </a:pPr>
            <a:r>
              <a:t>  [    ]  LINE友だち 3,000人目標</a:t>
            </a:r>
          </a:p>
          <a:p>
            <a:pPr algn="l">
              <a:lnSpc>
                <a:spcPts val="1800"/>
              </a:lnSpc>
              <a:spcAft>
                <a:spcPts val="400"/>
              </a:spcAft>
              <a:defRPr sz="1200">
                <a:solidFill>
                  <a:srgbClr val="333333"/>
                </a:solidFill>
                <a:latin typeface="Meiryo"/>
              </a:defRPr>
            </a:pPr>
            <a:r>
              <a:t>  [    ]  フルボトル売上拡大</a:t>
            </a:r>
          </a:p>
          <a:p>
            <a:pPr algn="l">
              <a:lnSpc>
                <a:spcPts val="1800"/>
              </a:lnSpc>
              <a:spcAft>
                <a:spcPts val="400"/>
              </a:spcAft>
              <a:defRPr sz="1200">
                <a:solidFill>
                  <a:srgbClr val="333333"/>
                </a:solidFill>
                <a:latin typeface="Meiryo"/>
              </a:defRPr>
            </a:pPr>
            <a:r>
              <a:t>  [    ]  ナイトライト量産体制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999999"/>
                </a:solidFill>
                <a:latin typeface="Meiryo"/>
              </a:defRPr>
            </a:pPr>
            <a:r>
              <a:t>COLLEGRANCE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