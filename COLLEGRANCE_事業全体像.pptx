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20"/>
              </a:lnSpc>
              <a:spcAft>
                <a:spcPts val="0"/>
              </a:spcAft>
              <a:defRPr sz="5600" b="1">
                <a:solidFill>
                  <a:srgbClr val="1A1A1A"/>
                </a:solidFill>
                <a:latin typeface="Meiryo"/>
              </a:defRPr>
            </a:pPr>
            <a:r>
              <a:t>COLLEGRANCE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666666"/>
                </a:solidFill>
                <a:latin typeface="Meiryo"/>
              </a:defRPr>
            </a:pPr>
            <a:r>
              <a:t>コレグランス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3A7D44"/>
                </a:solidFill>
                <a:latin typeface="Meiryo"/>
              </a:defRPr>
            </a:pPr>
            <a:r>
              <a:t>事業全体像  2026年4月（最終版）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206240"/>
            <a:ext cx="2103120" cy="18288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333333"/>
                </a:solidFill>
                <a:latin typeface="Meiryo"/>
              </a:defRPr>
            </a:pPr>
            <a:r>
              <a:t>合同会社ヤシノミ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Meiryo"/>
              </a:defRPr>
            </a:pPr>
            <a:r>
              <a:t>化粧品製造業・化粧品製造販売業 許可取得済み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事業概要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3A7D44"/>
                </a:solidFill>
                <a:latin typeface="Meiryo"/>
              </a:defRPr>
            </a:pPr>
            <a:r>
              <a:t>「香りはえらべる。もっと自由に。」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200"/>
              </a:spcAft>
              <a:defRPr sz="1600" b="1">
                <a:solidFill>
                  <a:srgbClr val="1A1A1A"/>
                </a:solidFill>
                <a:latin typeface="Meiryo"/>
              </a:defRPr>
            </a:pPr>
            <a:r>
              <a:t>高級ブランド香水の小分け（1.5ml）お試し販売 + フルボトル直販</a:t>
            </a:r>
          </a:p>
          <a:p>
            <a:pPr algn="ctr">
              <a:lnSpc>
                <a:spcPts val="13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Meiryo"/>
              </a:defRPr>
            </a:pPr>
          </a:p>
          <a:p>
            <a:pPr algn="ctr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130種類以上のブランド香水を取り扱い</a:t>
            </a:r>
          </a:p>
          <a:p>
            <a:pPr algn="ctr"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666666"/>
                </a:solidFill>
                <a:latin typeface="Meiryo"/>
              </a:defRPr>
            </a:pPr>
            <a:r>
              <a:t>Maison Margiela / BYREDO / DIPTYQUE / DIOR / HERMES / LE LABO 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840480"/>
            <a:ext cx="2286000" cy="16459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eiryo"/>
              </a:defRPr>
            </a:pPr>
            <a:r>
              <a:t>Amazon</a:t>
            </a:r>
          </a:p>
          <a:p>
            <a:pPr>
              <a:defRPr sz="600"/>
            </a:pPr>
          </a:p>
          <a:p>
            <a:pPr algn="ctr">
              <a:lnSpc>
                <a:spcPts val="1600"/>
              </a:lnSpc>
              <a:defRPr sz="1100">
                <a:solidFill>
                  <a:srgbClr val="CCCCCC"/>
                </a:solidFill>
                <a:latin typeface="Meiryo"/>
              </a:defRPr>
            </a:pPr>
            <a:r>
              <a:t>小分け+ケース</a:t>
            </a:r>
            <a:br/>
            <a:r>
              <a:t>広告で集客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40" y="3840480"/>
            <a:ext cx="2286000" cy="16459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eiryo"/>
              </a:defRPr>
            </a:pPr>
            <a:r>
              <a:t>TikTok Shop</a:t>
            </a:r>
          </a:p>
          <a:p>
            <a:pPr>
              <a:defRPr sz="600"/>
            </a:pPr>
          </a:p>
          <a:p>
            <a:pPr algn="ctr">
              <a:lnSpc>
                <a:spcPts val="1600"/>
              </a:lnSpc>
              <a:defRPr sz="1100">
                <a:solidFill>
                  <a:srgbClr val="CCCCCC"/>
                </a:solidFill>
                <a:latin typeface="Meiryo"/>
              </a:defRPr>
            </a:pPr>
            <a:r>
              <a:t>小分け+ケース</a:t>
            </a:r>
            <a:br/>
            <a:r>
              <a:t>コンテンツ販売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840480"/>
            <a:ext cx="2286000" cy="16459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eiryo"/>
              </a:defRPr>
            </a:pPr>
            <a:r>
              <a:t>メルカリShop</a:t>
            </a:r>
          </a:p>
          <a:p>
            <a:pPr>
              <a:defRPr sz="600"/>
            </a:pPr>
          </a:p>
          <a:p>
            <a:pPr algn="ctr">
              <a:lnSpc>
                <a:spcPts val="1600"/>
              </a:lnSpc>
              <a:defRPr sz="1100">
                <a:solidFill>
                  <a:srgbClr val="CCCCCC"/>
                </a:solidFill>
                <a:latin typeface="Meiryo"/>
              </a:defRPr>
            </a:pPr>
            <a:r>
              <a:t>小分け+ケース</a:t>
            </a:r>
            <a:br/>
            <a:r>
              <a:t>販売チャネル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3840480"/>
            <a:ext cx="2286000" cy="164592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eiryo"/>
              </a:defRPr>
            </a:pPr>
            <a:r>
              <a:t>自社EC (Stripe)</a:t>
            </a:r>
          </a:p>
          <a:p>
            <a:pPr>
              <a:defRPr sz="600"/>
            </a:pPr>
          </a:p>
          <a:p>
            <a:pPr algn="ctr">
              <a:lnSpc>
                <a:spcPts val="1600"/>
              </a:lnSpc>
              <a:defRPr sz="1100">
                <a:solidFill>
                  <a:srgbClr val="CCCCCC"/>
                </a:solidFill>
                <a:latin typeface="Meiryo"/>
              </a:defRPr>
            </a:pPr>
            <a:r>
              <a:t>フルボトル</a:t>
            </a:r>
            <a:br/>
            <a:r>
              <a:t>高利益の本命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ビジネスモデル全体図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SNS認知 → Amazon購入 → LINE登録 → CRM育成 → フルボトル/クロスセル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eiryo"/>
              </a:defRPr>
            </a:pPr>
            <a:r>
              <a:t>SNS認知</a:t>
            </a:r>
          </a:p>
          <a:p>
            <a:pPr algn="ctr">
              <a:defRPr sz="1000">
                <a:solidFill>
                  <a:srgbClr val="AAAAAA"/>
                </a:solidFill>
                <a:latin typeface="Meiryo"/>
              </a:defRPr>
            </a:pPr>
            <a:r>
              <a:t>TikTok / Threads</a:t>
            </a:r>
          </a:p>
          <a:p>
            <a:pPr algn="ctr">
              <a:defRPr sz="1000">
                <a:solidFill>
                  <a:srgbClr val="AAAAAA"/>
                </a:solidFill>
                <a:latin typeface="Meiryo"/>
              </a:defRPr>
            </a:pPr>
            <a:r>
              <a:t>Instagram / SEO(60記事)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88920"/>
            <a:ext cx="1005840" cy="594360"/>
          </a:xfrm>
          <a:prstGeom prst="roundRect">
            <a:avLst/>
          </a:prstGeom>
          <a:noFill/>
          <a:ln w="127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66666"/>
                </a:solidFill>
                <a:latin typeface="Meiryo"/>
              </a:defRPr>
            </a:pPr>
            <a:r>
              <a:t>Instagram</a:t>
            </a:r>
          </a:p>
          <a:p>
            <a:pPr algn="ctr">
              <a:defRPr sz="700">
                <a:solidFill>
                  <a:srgbClr val="999999"/>
                </a:solidFill>
                <a:latin typeface="Meiryo"/>
              </a:defRPr>
            </a:pPr>
            <a:r>
              <a:t>世界観構築→AI診断誘導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8760" y="2788920"/>
            <a:ext cx="1005840" cy="594360"/>
          </a:xfrm>
          <a:prstGeom prst="roundRect">
            <a:avLst/>
          </a:prstGeom>
          <a:noFill/>
          <a:ln w="12700">
            <a:solidFill>
              <a:srgbClr val="66666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66666"/>
                </a:solidFill>
                <a:latin typeface="Meiryo"/>
              </a:defRPr>
            </a:pPr>
            <a:r>
              <a:t>Threads</a:t>
            </a:r>
          </a:p>
          <a:p>
            <a:pPr algn="ctr">
              <a:defRPr sz="700">
                <a:solidFill>
                  <a:srgbClr val="999999"/>
                </a:solidFill>
                <a:latin typeface="Meiryo"/>
              </a:defRPr>
            </a:pPr>
            <a:r>
              <a:t>中の人投稿→認知拡大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107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Meiryo"/>
              </a:defRPr>
            </a:pPr>
            <a:r>
              <a:t>※ 今後追加予定（集客チャネル）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60320" y="1920240"/>
            <a:ext cx="457200" cy="27432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08960" y="146304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eiryo"/>
              </a:defRPr>
            </a:pPr>
            <a:r>
              <a:t>Amazon小分け購入</a:t>
            </a:r>
          </a:p>
          <a:p>
            <a:pPr algn="ctr">
              <a:defRPr sz="1000">
                <a:solidFill>
                  <a:srgbClr val="DDFFDD"/>
                </a:solidFill>
                <a:latin typeface="Meiryo"/>
              </a:defRPr>
            </a:pPr>
            <a:r>
              <a:t>広告費 ~75万/月</a:t>
            </a:r>
          </a:p>
          <a:p>
            <a:pPr algn="ctr">
              <a:defRPr sz="1000">
                <a:solidFill>
                  <a:srgbClr val="DDFFDD"/>
                </a:solidFill>
                <a:latin typeface="Meiryo"/>
              </a:defRPr>
            </a:pPr>
            <a:r>
              <a:t>月間 ~3,500件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86400" y="1920240"/>
            <a:ext cx="457200" cy="27432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0" y="1463040"/>
            <a:ext cx="2286000" cy="118872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eiryo"/>
              </a:defRPr>
            </a:pPr>
            <a:r>
              <a:t>LINE登録</a:t>
            </a:r>
          </a:p>
          <a:p>
            <a:pPr algn="ctr">
              <a:defRPr sz="1000">
                <a:solidFill>
                  <a:srgbClr val="DDFFDD"/>
                </a:solidFill>
                <a:latin typeface="Meiryo"/>
              </a:defRPr>
            </a:pPr>
            <a:r>
              <a:t>ケースプレゼント施策</a:t>
            </a:r>
          </a:p>
          <a:p>
            <a:pPr algn="ctr">
              <a:defRPr sz="1000">
                <a:solidFill>
                  <a:srgbClr val="DDFFDD"/>
                </a:solidFill>
                <a:latin typeface="Meiryo"/>
              </a:defRPr>
            </a:pPr>
            <a:r>
              <a:t>登録率 5.3% / 1,300人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412480" y="1920240"/>
            <a:ext cx="457200" cy="27432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0" y="1463040"/>
            <a:ext cx="2560320" cy="11887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eiryo"/>
              </a:defRPr>
            </a:pPr>
            <a:r>
              <a:t>CRM育成</a:t>
            </a:r>
          </a:p>
          <a:p>
            <a:pPr algn="ctr">
              <a:defRPr sz="1000">
                <a:solidFill>
                  <a:srgbClr val="AAAAAA"/>
                </a:solidFill>
                <a:latin typeface="Meiryo"/>
              </a:defRPr>
            </a:pPr>
            <a:r>
              <a:t>LINE Harness（自社開発）</a:t>
            </a:r>
          </a:p>
          <a:p>
            <a:pPr algn="ctr">
              <a:defRPr sz="1000">
                <a:solidFill>
                  <a:srgbClr val="AAAAAA"/>
                </a:solidFill>
                <a:latin typeface="Meiryo"/>
              </a:defRPr>
            </a:pPr>
            <a:r>
              <a:t>シナリオ配信+AI診断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418320" y="2834640"/>
            <a:ext cx="274320" cy="457200"/>
          </a:xfrm>
          <a:prstGeom prst="down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10332720" y="2834640"/>
            <a:ext cx="274320" cy="457200"/>
          </a:xfrm>
          <a:prstGeom prst="down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347472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フルボトル購入</a:t>
            </a:r>
          </a:p>
          <a:p>
            <a:pPr algn="ctr">
              <a:defRPr sz="900">
                <a:solidFill>
                  <a:srgbClr val="FFCCCC"/>
                </a:solidFill>
                <a:latin typeface="Meiryo"/>
              </a:defRPr>
            </a:pPr>
            <a:r>
              <a:t>自社EC(Stripe) / 高利益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3474720"/>
            <a:ext cx="1463040" cy="914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クロスセル</a:t>
            </a:r>
          </a:p>
          <a:p>
            <a:pPr algn="ctr">
              <a:defRPr sz="900">
                <a:solidFill>
                  <a:srgbClr val="AAAAAA"/>
                </a:solidFill>
                <a:latin typeface="Meiryo"/>
              </a:defRPr>
            </a:pPr>
            <a:r>
              <a:t>別の小分け(Amazon)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サステナブルループ（新規事業）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02920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1A"/>
                </a:solidFill>
                <a:latin typeface="Meiryo"/>
              </a:defRPr>
            </a:pPr>
            <a:r>
              <a:t>① 小分け製造時の空き瓶</a:t>
            </a:r>
            <a:br/>
            <a:r>
              <a:t>（自社ラボで発生）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0644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1A"/>
                </a:solidFill>
                <a:latin typeface="Meiryo"/>
              </a:defRPr>
            </a:pPr>
            <a:r>
              <a:t>② お客様のフルボトル空き瓶</a:t>
            </a:r>
            <a:br/>
            <a:r>
              <a:t>（将来の回収事業）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468880" y="5532120"/>
            <a:ext cx="365760" cy="22860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926080" y="5212080"/>
            <a:ext cx="2011680" cy="82296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eiryo"/>
              </a:defRPr>
            </a:pPr>
            <a:r>
              <a:t>3Dプリンタ</a:t>
            </a:r>
            <a:br/>
            <a:r>
              <a:t>ナイトライト製作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029200" y="5440680"/>
            <a:ext cx="365760" cy="22860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0" y="502920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eiryo"/>
              </a:defRPr>
            </a:pPr>
            <a:r>
              <a:t>TikTok Shop / 自社EC</a:t>
            </a:r>
            <a:br/>
            <a:r>
              <a:t>メルカリShopで販売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580644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eiryo"/>
              </a:defRPr>
            </a:pPr>
            <a:r>
              <a:t>製作動画をTikTok投稿</a:t>
            </a:r>
            <a:br/>
            <a:r>
              <a:t>サステナブル×おしゃれ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589520" y="5532120"/>
            <a:ext cx="365760" cy="22860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0" y="521208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E6B38"/>
                </a:solidFill>
                <a:latin typeface="Meiryo"/>
              </a:defRPr>
            </a:pPr>
            <a:r>
              <a:t>新規認知</a:t>
            </a:r>
            <a:br/>
            <a:r>
              <a:t>→ 小分け購入</a:t>
            </a:r>
            <a:br/>
            <a:r>
              <a:t>→ ループ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8961120" y="4480560"/>
            <a:ext cx="274320" cy="274320"/>
          </a:xfrm>
          <a:prstGeom prst="down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Amazon販売実績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2025年10月〜2026年3月（実測+推定値）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1828800"/>
                <a:gridCol w="164592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月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注文数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売上(税込)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広告費(税抜)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10月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¥1,712,373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¥829,402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1.70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11月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2,494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¥2,691,026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¥758,425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2.31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4,941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¥5,331,339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¥802,605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4.18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3,433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¥3,704,207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¥618,290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3.83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4,378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¥4,723,862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¥839,654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4.01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4,323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¥4,664,517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¥702,310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3.58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21,156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¥22,827,324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¥4,550,686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3.36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月別注文数推移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3932530"/>
            <a:ext cx="594360" cy="822349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680960" y="361249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1,587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800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10月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462542"/>
            <a:ext cx="594360" cy="1292337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412480" y="314250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2,494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800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11月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194560"/>
            <a:ext cx="594360" cy="256032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144000" y="187452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E63946"/>
                </a:solidFill>
                <a:latin typeface="Meiryo"/>
              </a:defRPr>
            </a:pPr>
            <a:r>
              <a:t>4,941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800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12月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2975973"/>
            <a:ext cx="594360" cy="1778906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9875520" y="2655933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3,433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4800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1月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98480" y="2486294"/>
            <a:ext cx="594360" cy="2268585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10607040" y="216625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4,378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4800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2月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0" y="2514794"/>
            <a:ext cx="594360" cy="2240085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11338560" y="219475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4,323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4800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A1A1A"/>
                </a:solidFill>
                <a:latin typeface="Meiryo"/>
              </a:defRPr>
            </a:pPr>
            <a:r>
              <a:t>3月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51206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200"/>
              </a:spcAft>
              <a:defRPr sz="1300" b="1">
                <a:solidFill>
                  <a:srgbClr val="666666"/>
                </a:solidFill>
                <a:latin typeface="Meiryo"/>
              </a:defRPr>
            </a:pPr>
            <a:r>
              <a:t>ROAS推移</a:t>
            </a:r>
          </a:p>
          <a:p>
            <a:pPr algn="l">
              <a:lnSpc>
                <a:spcPts val="2080"/>
              </a:lnSpc>
              <a:spcAft>
                <a:spcPts val="20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10月: 1.70 → 3月: 3.58</a:t>
            </a:r>
          </a:p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Meiryo"/>
              </a:defRPr>
            </a:pPr>
            <a:r>
              <a:t>（広告効率 2.1倍に改善）</a:t>
            </a:r>
          </a:p>
          <a:p>
            <a:pPr algn="l">
              <a:lnSpc>
                <a:spcPts val="104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Meiryo"/>
              </a:defRPr>
            </a:pPr>
          </a:p>
          <a:p>
            <a:pPr algn="l">
              <a:lnSpc>
                <a:spcPts val="1430"/>
              </a:lnSpc>
              <a:spcAft>
                <a:spcPts val="200"/>
              </a:spcAft>
              <a:defRPr sz="1100" b="0">
                <a:solidFill>
                  <a:srgbClr val="666666"/>
                </a:solidFill>
                <a:latin typeface="Meiryo"/>
              </a:defRPr>
            </a:pPr>
            <a:r>
              <a:t>平均単価（税込）</a:t>
            </a:r>
          </a:p>
          <a:p>
            <a:pPr algn="l">
              <a:lnSpc>
                <a:spcPts val="2860"/>
              </a:lnSpc>
              <a:spcAft>
                <a:spcPts val="200"/>
              </a:spcAft>
              <a:defRPr sz="2200" b="1">
                <a:solidFill>
                  <a:srgbClr val="1A1A1A"/>
                </a:solidFill>
                <a:latin typeface="Meiryo"/>
              </a:defRPr>
            </a:pPr>
            <a:r>
              <a:t>¥1,079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864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※10月・11月は実測値、12月〜3月はアンケート回答率からの推定</a:t>
            </a:r>
            <a:br/>
            <a:r>
              <a:t>※広告データは全月セラーセントラル実測値（税抜）、売上はSP-API（税込）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ユニットエコノミクス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1個あたりの利益構造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3A7D44"/>
                </a:solidFill>
                <a:latin typeface="Meiryo"/>
              </a:defRPr>
            </a:pPr>
            <a:r>
              <a:t>Amazon小分け（1.5ml）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1A1A1A"/>
                </a:solidFill>
                <a:latin typeface="Meiryo"/>
              </a:defRPr>
            </a:pPr>
            <a:r>
              <a:t>販売価格(税抜)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1A1A1A"/>
                </a:solidFill>
                <a:latin typeface="Meiryo"/>
              </a:defRPr>
            </a:pPr>
            <a:r>
              <a:t>¥981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- 香水原価+副資材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48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¥230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- FBA出荷費用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560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¥202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- Amazon手数料(8%)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971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¥78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37560"/>
            <a:ext cx="3200400" cy="18288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3A7D44"/>
                </a:solidFill>
                <a:latin typeface="Meiryo"/>
              </a:defRPr>
            </a:pPr>
            <a:r>
              <a:t>= 利益（広告費前）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383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3A7D44"/>
                </a:solidFill>
                <a:latin typeface="Meiryo"/>
              </a:defRPr>
            </a:pPr>
            <a:r>
              <a:t>¥470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31920"/>
            <a:ext cx="3840480" cy="9144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E6B38"/>
                </a:solidFill>
                <a:latin typeface="Meiryo"/>
              </a:defRPr>
            </a:pPr>
            <a:r>
              <a:t>ケース付き(30%): +¥280 → 利益¥750/個</a:t>
            </a:r>
          </a:p>
          <a:p>
            <a:pPr algn="ctr">
              <a:defRPr sz="1400" b="1">
                <a:solidFill>
                  <a:srgbClr val="1A1A1A"/>
                </a:solidFill>
                <a:latin typeface="Meiryo"/>
              </a:defRPr>
            </a:pPr>
            <a:r>
              <a:t>加重平均利益: ¥554/個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280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E63946"/>
                </a:solidFill>
                <a:latin typeface="Meiryo"/>
              </a:defRPr>
            </a:pPr>
            <a:r>
              <a:t>フルボトル（自社EC）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666666"/>
                </a:solidFill>
                <a:latin typeface="Meiryo"/>
              </a:defRPr>
            </a:pPr>
            <a:r>
              <a:t>価格設定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仕入原価 × 1.25 × 1.10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666666"/>
                </a:solidFill>
                <a:latin typeface="Meiryo"/>
              </a:defRPr>
            </a:pPr>
            <a:r>
              <a:t>粗利率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194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63946"/>
                </a:solidFill>
                <a:latin typeface="Meiryo"/>
              </a:defRPr>
            </a:pPr>
            <a:r>
              <a:t>25%（仕入原価に対して）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666666"/>
                </a:solidFill>
                <a:latin typeface="Meiryo"/>
              </a:defRPr>
            </a:pPr>
            <a:r>
              <a:t>在庫リスク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A7D44"/>
                </a:solidFill>
                <a:latin typeface="Meiryo"/>
              </a:defRPr>
            </a:pPr>
            <a:r>
              <a:t>ゼロ（受注後発注モデル）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108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666666"/>
                </a:solidFill>
                <a:latin typeface="Meiryo"/>
              </a:defRPr>
            </a:pPr>
            <a:r>
              <a:t>広告費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A7D44"/>
                </a:solidFill>
                <a:latin typeface="Meiryo"/>
              </a:defRPr>
            </a:pPr>
            <a:r>
              <a:t>¥0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666666"/>
                </a:solidFill>
                <a:latin typeface="Meiryo"/>
              </a:defRPr>
            </a:pPr>
            <a:r>
              <a:t>Amazon手数料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A7D44"/>
                </a:solidFill>
                <a:latin typeface="Meiryo"/>
              </a:defRPr>
            </a:pPr>
            <a:r>
              <a:t>¥0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3931920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低マージンだが在庫リスクゼロ</a:t>
            </a:r>
            <a:br/>
            <a:r>
              <a:t>LINE経由でAmazon広告費不要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1280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9800"/>
                </a:solidFill>
                <a:latin typeface="Meiryo"/>
              </a:defRPr>
            </a:pPr>
            <a:r>
              <a:t>ナイトライト（新規）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333333"/>
                </a:solidFill>
                <a:latin typeface="Meiryo"/>
              </a:defRPr>
            </a:pPr>
            <a:r>
              <a:t>販売価格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¥3,480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333333"/>
                </a:solidFill>
                <a:latin typeface="Meiryo"/>
              </a:defRPr>
            </a:pPr>
            <a:r>
              <a:t>原価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¥300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Meiryo"/>
              </a:defRPr>
            </a:pPr>
            <a:r>
              <a:t>（3Dプリンタ材料+ライト）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2971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333333"/>
                </a:solidFill>
                <a:latin typeface="Meiryo"/>
              </a:defRPr>
            </a:pPr>
            <a:r>
              <a:t>粗利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¥3,180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383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333333"/>
                </a:solidFill>
                <a:latin typeface="Meiryo"/>
              </a:defRPr>
            </a:pPr>
            <a:r>
              <a:t>利益率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9800"/>
                </a:solidFill>
                <a:latin typeface="Meiryo"/>
              </a:defRPr>
            </a:pPr>
            <a:r>
              <a:t>91%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12480" y="3931920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超高利益率</a:t>
            </a:r>
            <a:br/>
            <a:r>
              <a:t>空き瓶リユースでコストほぼゼロ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212080"/>
            <a:ext cx="11247120" cy="7315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6B38"/>
                </a:solidFill>
                <a:latin typeface="Meiryo"/>
              </a:defRPr>
            </a:pPr>
            <a:r>
              <a:t>Amazon小分け = キャッシュフローエンジン  /  フルボトル = ノーリスク追加利益  /  ナイトライト = 高利益の成長ドライバー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Amazon小分け事業 月別P/L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2025年10月〜2026年3月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1828800"/>
                <a:gridCol w="1828800"/>
                <a:gridCol w="2286000"/>
                <a:gridCol w="1371600"/>
              </a:tblGrid>
              <a:tr h="51435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月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売上(税抜)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原価+手数料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広告費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粗利益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利益率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10月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¥1,556,703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¥810,215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¥829,402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-¥82,915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-5.3%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11月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¥2,446,387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¥1,273,269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¥758,425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¥414,694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17.0%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¥4,846,672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¥2,522,542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¥802,605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¥1,521,525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¥3,367,461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¥1,752,659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¥618,290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¥996,512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29.6%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¥4,294,420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¥2,235,113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¥839,654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¥1,219,654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28.4%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¥4,240,470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¥2,207,033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¥702,310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¥1,331,127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¥20,752,113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¥10,800,831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¥4,550,686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¥5,400,596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26.0%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486400"/>
            <a:ext cx="3200400" cy="64008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Meiryo"/>
              </a:defRPr>
            </a:pPr>
            <a:r>
              <a:t>月平均利益</a:t>
            </a:r>
          </a:p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¥900,099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5486400"/>
            <a:ext cx="3200400" cy="6400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Meiryo"/>
              </a:defRPr>
            </a:pPr>
            <a:r>
              <a:t>人件費控除後</a:t>
            </a:r>
          </a:p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¥740,099/月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5486400"/>
            <a:ext cx="3200400" cy="64008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CCCCC"/>
                </a:solidFill>
                <a:latin typeface="Meiryo"/>
              </a:defRPr>
            </a:pPr>
            <a:r>
              <a:t>安定黒字化</a:t>
            </a:r>
          </a:p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11月以降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※10月は立ち上げ月で赤字。パート人件費 月16万円。12月〜3月の注文数はアンケート回答率からの推定値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アンケートファネル分析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Amazon購入者 → LINE登録 → クロスセル/アップセル対象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-457200" y="1371600"/>
            <a:ext cx="9144000" cy="8229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Amazon購入者（推定）    21,156人    (100%)</a:t>
            </a:r>
          </a:p>
        </p:txBody>
      </p:sp>
      <p:sp>
        <p:nvSpPr>
          <p:cNvPr id="6" name="Down Arrow 5"/>
          <p:cNvSpPr/>
          <p:nvPr/>
        </p:nvSpPr>
        <p:spPr>
          <a:xfrm>
            <a:off x="3977640" y="2194560"/>
            <a:ext cx="27432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7315200" cy="82296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LINE登録（アンケート回答）    1,258人    (登録率 5.3%)</a:t>
            </a:r>
          </a:p>
        </p:txBody>
      </p:sp>
      <p:sp>
        <p:nvSpPr>
          <p:cNvPr id="8" name="Down Arrow 7"/>
          <p:cNvSpPr/>
          <p:nvPr/>
        </p:nvSpPr>
        <p:spPr>
          <a:xfrm>
            <a:off x="3977640" y="3291840"/>
            <a:ext cx="27432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43000" y="3566160"/>
            <a:ext cx="5943600" cy="82296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「他にも試したい」    1,087人    (86.4%)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977640" y="4389120"/>
            <a:ext cx="27432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4663440"/>
            <a:ext cx="4572000" cy="82296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eiryo"/>
              </a:defRPr>
            </a:pPr>
            <a:r>
              <a:t>「フルボトル検討中」    728人    (57.9%)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356616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クロスセル対象</a:t>
            </a:r>
            <a:br/>
            <a:r>
              <a:t>1,087人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466344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アップセル対象</a:t>
            </a:r>
            <a:br/>
            <a:r>
              <a:t>728人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69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200"/>
              </a:spcAft>
              <a:defRPr sz="1600" b="1">
                <a:solidFill>
                  <a:srgbClr val="E63946"/>
                </a:solidFill>
                <a:latin typeface="Meiryo"/>
              </a:defRPr>
            </a:pPr>
            <a:r>
              <a:t>★ 728人がフルボトル購入を検討中</a:t>
            </a:r>
          </a:p>
          <a:p>
            <a:pPr algn="l"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→ LINE配信で購入に誘導する仕組みを構築中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顧客属性（アンケートデータ）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回答者: 1,258人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性別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00400" cy="4114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男性 70%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1737360"/>
            <a:ext cx="1325880" cy="41148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女性 29%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737360"/>
            <a:ext cx="45720" cy="41148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その他 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年齢分布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50代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2770632"/>
            <a:ext cx="3657600" cy="27432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eiryo"/>
              </a:defRPr>
            </a:pPr>
            <a: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906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40代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3118104"/>
            <a:ext cx="2926080" cy="27432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eiryo"/>
              </a:defRPr>
            </a:pPr>
            <a: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381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30代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3465576"/>
            <a:ext cx="2779776" cy="27432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eiryo"/>
              </a:defRPr>
            </a:pPr>
            <a:r>
              <a:t>19%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856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20代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3813048"/>
            <a:ext cx="2633472" cy="27432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eiryo"/>
              </a:defRPr>
            </a:pPr>
            <a:r>
              <a:t>18%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330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60代〜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54480" y="4160520"/>
            <a:ext cx="1755648" cy="27432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eiryo"/>
              </a:defRPr>
            </a:pPr>
            <a:r>
              <a:t>12%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10代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4480" y="4507992"/>
            <a:ext cx="877824" cy="27432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Meiryo"/>
              </a:defRPr>
            </a:pPr>
            <a:r>
              <a:t>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満足度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E63946"/>
                </a:solidFill>
                <a:latin typeface="Meiryo"/>
              </a:defRPr>
            </a:pPr>
            <a:r>
              <a:t>★4以上: 88.9%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468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★5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2496312"/>
            <a:ext cx="3168396" cy="2286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59.4%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788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★4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816352"/>
            <a:ext cx="1573530" cy="2286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29.5%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108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★3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3136392"/>
            <a:ext cx="506730" cy="22860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9.5%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429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★2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3456432"/>
            <a:ext cx="58674" cy="22860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1.1%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749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33333"/>
                </a:solidFill>
                <a:latin typeface="Meiryo"/>
              </a:defRPr>
            </a:pPr>
            <a:r>
              <a:t>★1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3776472"/>
            <a:ext cx="26670" cy="22860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0.5%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香水を知ったきっかけ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754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YouTube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4782312"/>
            <a:ext cx="2651760" cy="228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29%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50474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Amazon・楽天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5074920"/>
            <a:ext cx="2377440" cy="228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26%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53400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SNS(IG/TikTok)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5367528"/>
            <a:ext cx="2011680" cy="228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22%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6327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友人・知人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5660136"/>
            <a:ext cx="1097280" cy="228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12%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59253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雑誌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5952744"/>
            <a:ext cx="548640" cy="228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6%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6217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その他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0" y="6245352"/>
            <a:ext cx="457200" cy="228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Meiryo"/>
              </a:defRPr>
            </a:pPr>
            <a:r>
              <a:t>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人気商品TOP3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2120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E63946"/>
                </a:solidFill>
                <a:latin typeface="Meiryo"/>
              </a:defRPr>
            </a:pPr>
            <a:r>
              <a:t>1位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5212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商品030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0" y="5212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42.1%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5321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E63946"/>
                </a:solidFill>
                <a:latin typeface="Meiryo"/>
              </a:defRPr>
            </a:pPr>
            <a:r>
              <a:t>2位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80160" y="5532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商品018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5532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20.6%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8521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E63946"/>
                </a:solidFill>
                <a:latin typeface="Meiryo"/>
              </a:defRPr>
            </a:pPr>
            <a:r>
              <a:t>3位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80160" y="5852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商品039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5852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1A1A1A"/>
                </a:solidFill>
                <a:latin typeface="Meiryo"/>
              </a:defRPr>
            </a:pPr>
            <a:r>
              <a:t>7.8%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販売チャネル一覧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3657600"/>
                <a:gridCol w="2286000"/>
              </a:tblGrid>
              <a:tr h="5334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チャネル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商品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状態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Amazon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小分け+ケース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集客+販売（広告費~75万/月）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稼働中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TikTok Shop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小分け+ケース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コンテンツ → 販売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稼働中（25件/月）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メルカリShop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小分け+ケース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販売チャネル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稼働中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自社EC (Stripe)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フルボトル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高利益の本命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稼働中（リニューアル完了）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自社EC (予定)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ナイトライト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サステナブル商品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666666"/>
                          </a:solidFill>
                          <a:latin typeface="Meiryo"/>
                        </a:defRPr>
                      </a:pPr>
                      <a:r>
                        <a:t>準備中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846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A7D44"/>
                </a:solidFill>
                <a:latin typeface="Meiryo"/>
              </a:defRPr>
            </a:pPr>
            <a:r>
              <a:t>チャネル戦略の考え方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212080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Amazon</a:t>
            </a:r>
            <a:br/>
            <a:r>
              <a:t>集客エンジン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31920" y="5440680"/>
            <a:ext cx="365760" cy="22860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5212080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TikTok / メルカリ</a:t>
            </a:r>
            <a:br/>
            <a:r>
              <a:t>サブチャネル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589520" y="5440680"/>
            <a:ext cx="365760" cy="22860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5212080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自社EC</a:t>
            </a:r>
            <a:br/>
            <a:r>
              <a:t>マネタイズ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LINE CRM設計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LINE Harness（自社開発CRM/MA）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シナリオ配信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Day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373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ウェルカム + 購入商品タグ付け</a:t>
            </a:r>
          </a:p>
        </p:txBody>
      </p:sp>
      <p:sp>
        <p:nvSpPr>
          <p:cNvPr id="8" name="Down Arrow 7"/>
          <p:cNvSpPr/>
          <p:nvPr/>
        </p:nvSpPr>
        <p:spPr>
          <a:xfrm>
            <a:off x="1051560" y="2240280"/>
            <a:ext cx="182880" cy="27432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Day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432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「香りはいかがですか？」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051560" y="3246120"/>
            <a:ext cx="182880" cy="27432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74904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Day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49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フルボトルLP配信</a:t>
            </a:r>
            <a:br/>
            <a:r>
              <a:t>collegrance.com/?from=sample&amp;product={ID}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51560" y="4251960"/>
            <a:ext cx="182880" cy="27432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475488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Day 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7548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AI香水診断誘導</a:t>
            </a:r>
            <a:br/>
            <a:r>
              <a:t>collegrance.com/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アンケート → レコメンド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73736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アンケート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7373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Meiryo"/>
              </a:defRPr>
            </a:pPr>
            <a:r>
              <a:t>「次に試したい香りは？」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7178040" y="2240280"/>
            <a:ext cx="182880" cy="27432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292608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タグ付け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926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Meiryo"/>
              </a:defRPr>
            </a:pPr>
            <a:r>
              <a:t>回答に基づき興味タグ付与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178040" y="3429000"/>
            <a:ext cx="182880" cy="27432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411480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レコメンド配信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114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Meiryo"/>
              </a:defRPr>
            </a:pPr>
            <a:r>
              <a:t>小分けおすすめLP</a:t>
            </a:r>
            <a:br/>
            <a:r>
              <a:t>?from=recommend&amp;product={ID}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303520"/>
            <a:ext cx="10515600" cy="7315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1A"/>
                </a:solidFill>
                <a:latin typeface="Meiryo"/>
              </a:defRPr>
            </a:pPr>
            <a:r>
              <a:t>ポイント: 商品IDに応じてURLを動的生成し、パーソナライズ配信を実現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自社サイト + SNS戦略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collegrance.com（リニューアル完了）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37160" cy="2286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AI香水診断（Claude AI）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37160" cy="2286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フルボトルEC（130種類、Stripe決済）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137160" cy="2286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ブログ60本（SEO、100本目標）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137160" cy="2286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商品LP（LINE配信のリンク先）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137160" cy="2286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00584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GA4 eコマーストラッキング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SNS戦略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0" y="173736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チャネル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担当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状態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TikTok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みのべさん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稼働中（毎日1本）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Threads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keito（中の人）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666666"/>
                          </a:solidFill>
                          <a:latin typeface="Meiryo"/>
                        </a:defRPr>
                      </a:pPr>
                      <a:r>
                        <a:t>準備中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Instagram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keito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666666"/>
                          </a:solidFill>
                          <a:latin typeface="Meiryo"/>
                        </a:defRPr>
                      </a:pPr>
                      <a:r>
                        <a:t>準備中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31520" y="4114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新施策: ナイトライト事業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フルボトル</a:t>
            </a:r>
            <a:br/>
            <a:r>
              <a:t>空き瓶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423160" y="4892040"/>
            <a:ext cx="411480" cy="22860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26080" y="457200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3Dプリンタ</a:t>
            </a:r>
            <a:br/>
            <a:r>
              <a:t>で加工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617720" y="4892040"/>
            <a:ext cx="411480" cy="22860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20640" y="457200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ナイトライト</a:t>
            </a:r>
            <a:br/>
            <a:r>
              <a:t>完成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812280" y="4892040"/>
            <a:ext cx="411480" cy="22860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0" y="457200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TikTok動画</a:t>
            </a:r>
            <a:br/>
            <a:r>
              <a:t>で拡散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006840" y="4892040"/>
            <a:ext cx="411480" cy="22860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09760" y="4572000"/>
            <a:ext cx="1645920" cy="914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販売</a:t>
            </a:r>
            <a:br/>
            <a:r>
              <a:t>(各チャネル)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3A7D44"/>
                </a:solidFill>
                <a:latin typeface="Meiryo"/>
              </a:defRPr>
            </a:pPr>
            <a:r>
              <a:t>香水の「試す → 使う → 残る → 再生 → 広がる」全ライフサイクルをビジネス化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現在の戦略（クロスセル/アップセル）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アンケートで判明した2つの巨大セグメント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54864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eiryo"/>
              </a:defRPr>
            </a:pPr>
            <a:r>
              <a:t>① 「他にも試したい」 1,087人（86.4%）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LINEシナリオで別の小分けをレコメンド（クロスセル）</a:t>
            </a:r>
          </a:p>
          <a:p>
            <a:pPr algn="l"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3A7D44"/>
                </a:solidFill>
                <a:latin typeface="Meiryo"/>
              </a:defRPr>
            </a:pPr>
            <a:r>
              <a:t>→ 小分けおすすめLP（?from=recommend）</a:t>
            </a:r>
          </a:p>
          <a:p>
            <a:pPr algn="l"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3A7D44"/>
                </a:solidFill>
                <a:latin typeface="Meiryo"/>
              </a:defRPr>
            </a:pPr>
            <a:r>
              <a:t>→ Amazonで追加購入を促進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5486400" cy="54864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eiryo"/>
              </a:defRPr>
            </a:pPr>
            <a:r>
              <a:t>② 「フルボトル検討中」 728人（57.9%）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200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LINEシナリオでフルボトルLPを配信（アップセル）</a:t>
            </a:r>
          </a:p>
          <a:p>
            <a:pPr algn="l"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E63946"/>
                </a:solidFill>
                <a:latin typeface="Meiryo"/>
              </a:defRPr>
            </a:pPr>
            <a:r>
              <a:t>→ フルボトルLP（?from=sample）</a:t>
            </a:r>
          </a:p>
          <a:p>
            <a:pPr algn="l"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E63946"/>
                </a:solidFill>
                <a:latin typeface="Meiryo"/>
              </a:defRPr>
            </a:pPr>
            <a:r>
              <a:t>→ 自社EC(Stripe)で高利益率の販売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現在リニューアル中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137160" cy="4572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1A1A1A"/>
                </a:solidFill>
                <a:latin typeface="Meiryo"/>
              </a:defRPr>
            </a:pPr>
            <a:r>
              <a:t>自社サイト collegrance.com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Meiryo"/>
              </a:defRPr>
            </a:pPr>
            <a:r>
              <a:t>AI診断+フルボトルEC+商品LP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560320"/>
            <a:ext cx="137160" cy="4572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67512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1A1A1A"/>
                </a:solidFill>
                <a:latin typeface="Meiryo"/>
              </a:defRPr>
            </a:pPr>
            <a:r>
              <a:t>LINE Harness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Meiryo"/>
              </a:defRPr>
            </a:pPr>
            <a:r>
              <a:t>シナリオ配信+タグベースセグメント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291840"/>
            <a:ext cx="137160" cy="4572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67512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1A1A1A"/>
                </a:solidFill>
                <a:latin typeface="Meiryo"/>
              </a:defRPr>
            </a:pPr>
            <a:r>
              <a:t>商品LP動的生成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Meiryo"/>
              </a:defRPr>
            </a:pPr>
            <a:r>
              <a:t>?from=sample / ?from=recommend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023360"/>
            <a:ext cx="137160" cy="45720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67512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1A1A1A"/>
                </a:solidFill>
                <a:latin typeface="Meiryo"/>
              </a:defRPr>
            </a:pPr>
            <a:r>
              <a:t>GA4計測統合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Meiryo"/>
              </a:defRPr>
            </a:pPr>
            <a:r>
              <a:t>全チャネルの行動追跡→購入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303520"/>
            <a:ext cx="10972800" cy="82296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Meiryo"/>
              </a:defRPr>
            </a:pPr>
            <a:r>
              <a:t>この2セグメントに対応するため、自社サイト + LINE Harnessをリニューアル中</a:t>
            </a:r>
          </a:p>
          <a:p>
            <a:pPr algn="ctr">
              <a:defRPr sz="1300">
                <a:solidFill>
                  <a:srgbClr val="2E6B38"/>
                </a:solidFill>
                <a:latin typeface="Meiryo"/>
              </a:defRPr>
            </a:pPr>
            <a:r>
              <a:t>「小分けで試す → 気に入ったらフルボトル」の転換率を最大化する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2026年度 売上目標シミュレーション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Meiryo"/>
              </a:defRPr>
            </a:pPr>
            <a:r>
              <a:t>目標: 5,000万円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チャネル別売上シミュレーション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6858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チャネル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計算根拠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年間売上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Amazon小分け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月平均¥380万 x 12ヶ月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¥45,600,000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フルボトル(LINE経由)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検討者728人 x 転換率20% x ¥12,000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E63946"/>
                          </a:solidFill>
                          <a:latin typeface="Meiryo"/>
                        </a:defRPr>
                      </a:pPr>
                      <a:r>
                        <a:t>¥1,740,000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2E6B38"/>
                          </a:solidFill>
                          <a:latin typeface="Meiryo"/>
                        </a:defRPr>
                      </a:pPr>
                      <a:r>
                        <a:t>クロスセル(別の小分け)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1,087人 x リピ率30% x ¥1,079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2E6B38"/>
                          </a:solidFill>
                          <a:latin typeface="Meiryo"/>
                        </a:defRPr>
                      </a:pPr>
                      <a:r>
                        <a:t>¥351,754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TikTok Shop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SPS獲得後 月100件 x ¥1,079 x 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¥1,294,800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9800"/>
                          </a:solidFill>
                          <a:latin typeface="Meiryo"/>
                        </a:defRPr>
                      </a:pPr>
                      <a:r>
                        <a:t>ナイトライト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月30個 x ¥3,480 x 12ヶ月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FF9800"/>
                          </a:solidFill>
                          <a:latin typeface="Meiryo"/>
                        </a:defRPr>
                      </a:pPr>
                      <a:r>
                        <a:t>¥1,252,800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メルカリShop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月50件 x ¥1,079 x 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¥647,400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1A1A1A"/>
                          </a:solidFill>
                          <a:latin typeface="Meiryo"/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00"/>
                        </a:spcBef>
                        <a:spcAft>
                          <a:spcPts val="400"/>
                        </a:spcAft>
                        <a:defRPr sz="1100" b="1">
                          <a:solidFill>
                            <a:srgbClr val="3A7D44"/>
                          </a:solidFill>
                          <a:latin typeface="Meiryo"/>
                        </a:defRPr>
                      </a:pPr>
                      <a:r>
                        <a:t>¥50,886,754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1280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3A7D44"/>
                </a:solidFill>
                <a:latin typeface="Meiryo"/>
              </a:defRPr>
            </a:pPr>
            <a:r>
              <a:t>売上構成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5544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333333"/>
                </a:solidFill>
                <a:latin typeface="Meiryo"/>
              </a:defRPr>
            </a:pPr>
            <a:r>
              <a:t>Amazon小分け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737360"/>
            <a:ext cx="3657600" cy="36576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eiryo"/>
              </a:defRPr>
            </a:pPr>
            <a:r>
              <a:t>¥45,600,000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1031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333333"/>
                </a:solidFill>
                <a:latin typeface="Meiryo"/>
              </a:defRPr>
            </a:pPr>
            <a:r>
              <a:t>フルボトル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286000"/>
            <a:ext cx="914400" cy="36576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eiryo"/>
              </a:defRPr>
            </a:pPr>
            <a:r>
              <a:t>¥1,740,000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6517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333333"/>
                </a:solidFill>
                <a:latin typeface="Meiryo"/>
              </a:defRPr>
            </a:pPr>
            <a:r>
              <a:t>クロスセル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834640"/>
            <a:ext cx="292608" cy="365760"/>
          </a:xfrm>
          <a:prstGeom prst="roundRect">
            <a:avLst>
              <a:gd name="adj" fmla="val 5000"/>
            </a:avLst>
          </a:prstGeom>
          <a:solidFill>
            <a:srgbClr val="2E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eiryo"/>
              </a:defRPr>
            </a:pPr>
            <a:r>
              <a:t>¥351,754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2004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333333"/>
                </a:solidFill>
                <a:latin typeface="Meiryo"/>
              </a:defRPr>
            </a:pPr>
            <a:r>
              <a:t>TikTok Shop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383280"/>
            <a:ext cx="830852" cy="365760"/>
          </a:xfrm>
          <a:prstGeom prst="roundRect">
            <a:avLst>
              <a:gd name="adj" fmla="val 5000"/>
            </a:avLst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eiryo"/>
              </a:defRPr>
            </a:pPr>
            <a:r>
              <a:t>¥1,294,800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7490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333333"/>
                </a:solidFill>
                <a:latin typeface="Meiryo"/>
              </a:defRPr>
            </a:pPr>
            <a:r>
              <a:t>ナイトライト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3931920"/>
            <a:ext cx="803901" cy="365760"/>
          </a:xfrm>
          <a:prstGeom prst="roundRect">
            <a:avLst>
              <a:gd name="adj" fmla="val 5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eiryo"/>
              </a:defRPr>
            </a:pPr>
            <a:r>
              <a:t>¥1,252,800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2976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333333"/>
                </a:solidFill>
                <a:latin typeface="Meiryo"/>
              </a:defRPr>
            </a:pPr>
            <a:r>
              <a:t>メルカリ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4480560"/>
            <a:ext cx="415426" cy="365760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eiryo"/>
              </a:defRPr>
            </a:pPr>
            <a:r>
              <a:t>¥647,400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486400"/>
            <a:ext cx="11247120" cy="64008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eiryo"/>
              </a:defRPr>
            </a:pPr>
            <a:r>
              <a:t>合計: ¥50,886,754 → 目標5,000万円 達成可能</a:t>
            </a:r>
          </a:p>
          <a:p>
            <a:pPr algn="ctr">
              <a:defRPr sz="1100">
                <a:solidFill>
                  <a:srgbClr val="CCFFCC"/>
                </a:solidFill>
                <a:latin typeface="Meiryo"/>
              </a:defRPr>
            </a:pPr>
            <a:r>
              <a:t>※広告費の最適化（ROAS改善）による利益率向上も見込む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>
                <a:solidFill>
                  <a:srgbClr val="1A1A1A"/>
                </a:solidFill>
                <a:latin typeface="Meiryo"/>
              </a:defRPr>
            </a:pPr>
            <a:r>
              <a:t>ロードマップ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548640"/>
          </a:xfrm>
          <a:prstGeom prst="roundRect">
            <a:avLst>
              <a:gd name="adj" fmla="val 5000"/>
            </a:avLst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eiryo"/>
              </a:defRPr>
            </a:pPr>
            <a:r>
              <a:t>2026年4月（現在）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1463040"/>
            <a:ext cx="182880" cy="274320"/>
          </a:xfrm>
          <a:prstGeom prst="rightArrow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3A7D44"/>
                </a:solidFill>
                <a:latin typeface="Meiryo"/>
              </a:defRPr>
            </a:pPr>
            <a:r>
              <a:t>✅ Amazon月間3,500〜5,000件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3A7D44"/>
                </a:solidFill>
                <a:latin typeface="Meiryo"/>
              </a:defRPr>
            </a:pPr>
            <a:r>
              <a:t>✅ LINE友だち1,300人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3A7D44"/>
                </a:solidFill>
                <a:latin typeface="Meiryo"/>
              </a:defRPr>
            </a:pPr>
            <a:r>
              <a:t>✅ 自社サイトリニューアル完了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3A7D44"/>
                </a:solidFill>
                <a:latin typeface="Meiryo"/>
              </a:defRPr>
            </a:pPr>
            <a:r>
              <a:t>✅ AI香水診断・フルボトルEC稼働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3A7D44"/>
                </a:solidFill>
                <a:latin typeface="Meiryo"/>
              </a:defRPr>
            </a:pPr>
            <a:r>
              <a:t>✅ ブログ60本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3A7D44"/>
                </a:solidFill>
                <a:latin typeface="Meiryo"/>
              </a:defRPr>
            </a:pPr>
            <a:r>
              <a:t>✅ TikTok Shop ローンチ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371600"/>
            <a:ext cx="3474720" cy="5486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eiryo"/>
              </a:defRPr>
            </a:pPr>
            <a:r>
              <a:t>2026年5〜6月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589520" y="1463040"/>
            <a:ext cx="182880" cy="274320"/>
          </a:xfrm>
          <a:prstGeom prst="rightArrow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□ Threads/Instagram開始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560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□ LINEシナリオ本格配信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□ ブログ100本到達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474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□ ナイトライト製作・販売開始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□ TikTok SPS獲得(30件)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1371600"/>
            <a:ext cx="3474720" cy="54864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eiryo"/>
              </a:defRPr>
            </a:pPr>
            <a:r>
              <a:t>2026年下半期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□ LINE友だち3,000人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2560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□ フルボトル月間売上目標達成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□ SNS流入の本格化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3474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□ ナイトライト量産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□ 年間売上5,000万円達成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303520"/>
            <a:ext cx="10972800" cy="82296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E6B38"/>
                </a:solidFill>
                <a:latin typeface="Meiryo"/>
              </a:defRPr>
            </a:pPr>
            <a:r>
              <a:t>ビジョン: 「試す → 気に入る → 買う → 再生する → 広がる」</a:t>
            </a:r>
          </a:p>
          <a:p>
            <a:pPr algn="ctr">
              <a:defRPr sz="1400">
                <a:solidFill>
                  <a:srgbClr val="333333"/>
                </a:solidFill>
                <a:latin typeface="Meiryo"/>
              </a:defRPr>
            </a:pPr>
            <a:r>
              <a:t>香水の全ライフサイクルをビジネスに変える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COLLEGRANCE  |  合同会社ヤシノミ  |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999999"/>
                </a:solidFill>
                <a:latin typeface="Meiryo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