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6720"/>
              </a:lnSpc>
              <a:spcAft>
                <a:spcPts val="0"/>
              </a:spcAft>
              <a:defRPr sz="5600" b="1">
                <a:solidFill>
                  <a:srgbClr val="1A1A1A"/>
                </a:solidFill>
                <a:latin typeface="Meiryo"/>
              </a:defRPr>
            </a:pPr>
            <a:r>
              <a:t>COLLEGRANCE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651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666666"/>
                </a:solidFill>
                <a:latin typeface="Meiryo"/>
              </a:defRPr>
            </a:pPr>
            <a:r>
              <a:t>コレグランス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60"/>
              </a:lnSpc>
              <a:spcAft>
                <a:spcPts val="0"/>
              </a:spcAft>
              <a:defRPr sz="2800" b="1">
                <a:solidFill>
                  <a:srgbClr val="3A7D44"/>
                </a:solidFill>
                <a:latin typeface="Meiryo"/>
              </a:defRPr>
            </a:pPr>
            <a:r>
              <a:t>事業全体像  2026年4月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4206240"/>
            <a:ext cx="2103120" cy="18288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Aft>
                <a:spcPts val="0"/>
              </a:spcAft>
              <a:defRPr sz="1600" b="0">
                <a:solidFill>
                  <a:srgbClr val="333333"/>
                </a:solidFill>
                <a:latin typeface="Meiryo"/>
              </a:defRPr>
            </a:pPr>
            <a:r>
              <a:t>合同会社ヤシノミ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029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666666"/>
                </a:solidFill>
                <a:latin typeface="Meiryo"/>
              </a:defRPr>
            </a:pPr>
            <a:r>
              <a:t>化粧品製造業・化粧品製造販売業 許可取得済み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COLLEGRANCE  |  合同会社ヤシノミ  |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37160" cy="4572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1A1A1A"/>
                </a:solidFill>
                <a:latin typeface="Meiryo"/>
              </a:defRPr>
            </a:pPr>
            <a:r>
              <a:t>事業概要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600"/>
              </a:lnSpc>
              <a:spcAft>
                <a:spcPts val="0"/>
              </a:spcAft>
              <a:defRPr sz="3000" b="1">
                <a:solidFill>
                  <a:srgbClr val="3A7D44"/>
                </a:solidFill>
                <a:latin typeface="Meiryo"/>
              </a:defRPr>
            </a:pPr>
            <a:r>
              <a:t>「香りはえらべる。もっと自由に。」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103120"/>
            <a:ext cx="9144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080"/>
              </a:lnSpc>
              <a:spcAft>
                <a:spcPts val="200"/>
              </a:spcAft>
              <a:defRPr sz="1600" b="1">
                <a:solidFill>
                  <a:srgbClr val="1A1A1A"/>
                </a:solidFill>
                <a:latin typeface="Meiryo"/>
              </a:defRPr>
            </a:pPr>
            <a:r>
              <a:t>高級ブランド香水の小分け（1.5ml）お試し販売 + フルボトル直販</a:t>
            </a:r>
          </a:p>
          <a:p>
            <a:pPr algn="ctr">
              <a:lnSpc>
                <a:spcPts val="1300"/>
              </a:lnSpc>
              <a:spcAft>
                <a:spcPts val="200"/>
              </a:spcAft>
              <a:defRPr sz="1000" b="0">
                <a:solidFill>
                  <a:srgbClr val="333333"/>
                </a:solidFill>
                <a:latin typeface="Meiryo"/>
              </a:defRPr>
            </a:pPr>
          </a:p>
          <a:p>
            <a:pPr algn="ctr"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333333"/>
                </a:solidFill>
                <a:latin typeface="Meiryo"/>
              </a:defRPr>
            </a:pPr>
            <a:r>
              <a:t>130種類以上のブランド香水を取り扱い</a:t>
            </a:r>
          </a:p>
          <a:p>
            <a:pPr algn="ctr">
              <a:lnSpc>
                <a:spcPts val="1560"/>
              </a:lnSpc>
              <a:spcAft>
                <a:spcPts val="200"/>
              </a:spcAft>
              <a:defRPr sz="1200" b="0">
                <a:solidFill>
                  <a:srgbClr val="666666"/>
                </a:solidFill>
                <a:latin typeface="Meiryo"/>
              </a:defRPr>
            </a:pPr>
            <a:r>
              <a:t>Maison Margiela / BYREDO / DIPTYQUE / DIOR / HERMÈS / LE LABO 他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3840480"/>
            <a:ext cx="2286000" cy="164592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Meiryo"/>
              </a:defRPr>
            </a:pPr>
            <a:r>
              <a:t>Amazon</a:t>
            </a:r>
          </a:p>
          <a:p>
            <a:pPr>
              <a:defRPr sz="600"/>
            </a:pPr>
          </a:p>
          <a:p>
            <a:pPr algn="ctr">
              <a:lnSpc>
                <a:spcPts val="1600"/>
              </a:lnSpc>
              <a:defRPr sz="1100">
                <a:solidFill>
                  <a:srgbClr val="CCCCCC"/>
                </a:solidFill>
                <a:latin typeface="Meiryo"/>
              </a:defRPr>
            </a:pPr>
            <a:r>
              <a:t>小分け+ケース</a:t>
            </a:r>
            <a:br/>
            <a:r>
              <a:t>広告で集客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49040" y="3840480"/>
            <a:ext cx="2286000" cy="164592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Meiryo"/>
              </a:defRPr>
            </a:pPr>
            <a:r>
              <a:t>TikTok Shop</a:t>
            </a:r>
          </a:p>
          <a:p>
            <a:pPr>
              <a:defRPr sz="600"/>
            </a:pPr>
          </a:p>
          <a:p>
            <a:pPr algn="ctr">
              <a:lnSpc>
                <a:spcPts val="1600"/>
              </a:lnSpc>
              <a:defRPr sz="1100">
                <a:solidFill>
                  <a:srgbClr val="CCCCCC"/>
                </a:solidFill>
                <a:latin typeface="Meiryo"/>
              </a:defRPr>
            </a:pPr>
            <a:r>
              <a:t>小分け+ケース</a:t>
            </a:r>
            <a:br/>
            <a:r>
              <a:t>コンテンツ販売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3840480"/>
            <a:ext cx="2286000" cy="164592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Meiryo"/>
              </a:defRPr>
            </a:pPr>
            <a:r>
              <a:t>メルカリShop</a:t>
            </a:r>
          </a:p>
          <a:p>
            <a:pPr>
              <a:defRPr sz="600"/>
            </a:pPr>
          </a:p>
          <a:p>
            <a:pPr algn="ctr">
              <a:lnSpc>
                <a:spcPts val="1600"/>
              </a:lnSpc>
              <a:defRPr sz="1100">
                <a:solidFill>
                  <a:srgbClr val="CCCCCC"/>
                </a:solidFill>
                <a:latin typeface="Meiryo"/>
              </a:defRPr>
            </a:pPr>
            <a:r>
              <a:t>小分け+ケース</a:t>
            </a:r>
            <a:br/>
            <a:r>
              <a:t>販売チャネル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52560" y="3840480"/>
            <a:ext cx="2286000" cy="164592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Meiryo"/>
              </a:defRPr>
            </a:pPr>
            <a:r>
              <a:t>自社EC (Stripe)</a:t>
            </a:r>
          </a:p>
          <a:p>
            <a:pPr>
              <a:defRPr sz="600"/>
            </a:pPr>
          </a:p>
          <a:p>
            <a:pPr algn="ctr">
              <a:lnSpc>
                <a:spcPts val="1600"/>
              </a:lnSpc>
              <a:defRPr sz="1100">
                <a:solidFill>
                  <a:srgbClr val="CCCCCC"/>
                </a:solidFill>
                <a:latin typeface="Meiryo"/>
              </a:defRPr>
            </a:pPr>
            <a:r>
              <a:t>フルボトル</a:t>
            </a:r>
            <a:br/>
            <a:r>
              <a:t>高利益の本命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COLLEGRANCE  |  合同会社ヤシノミ  | 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37160" cy="4572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1A1A1A"/>
                </a:solidFill>
                <a:latin typeface="Meiryo"/>
              </a:defRPr>
            </a:pPr>
            <a:r>
              <a:t>ビジネスモデル全体図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666666"/>
                </a:solidFill>
                <a:latin typeface="Meiryo"/>
              </a:defRPr>
            </a:pPr>
            <a:r>
              <a:t>SNS認知 → Amazon購入 → LINE登録 → CRM育成 → フルボトル/クロスセル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63040"/>
            <a:ext cx="2011680" cy="118872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Meiryo"/>
              </a:defRPr>
            </a:pPr>
            <a:r>
              <a:t>SNS認知</a:t>
            </a:r>
          </a:p>
          <a:p>
            <a:pPr algn="ctr">
              <a:defRPr sz="1000">
                <a:solidFill>
                  <a:srgbClr val="AAAAAA"/>
                </a:solidFill>
                <a:latin typeface="Meiryo"/>
              </a:defRPr>
            </a:pPr>
            <a:r>
              <a:t>TikTok / Threads</a:t>
            </a:r>
          </a:p>
          <a:p>
            <a:pPr algn="ctr">
              <a:defRPr sz="1000">
                <a:solidFill>
                  <a:srgbClr val="AAAAAA"/>
                </a:solidFill>
                <a:latin typeface="Meiryo"/>
              </a:defRPr>
            </a:pPr>
            <a:r>
              <a:t>Instagram / SEO(60記事)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560320" y="1920240"/>
            <a:ext cx="457200" cy="274320"/>
          </a:xfrm>
          <a:prstGeom prst="rightArrow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108960" y="1463040"/>
            <a:ext cx="2286000" cy="118872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Meiryo"/>
              </a:defRPr>
            </a:pPr>
            <a:r>
              <a:t>Amazon小分け購入</a:t>
            </a:r>
          </a:p>
          <a:p>
            <a:pPr algn="ctr">
              <a:defRPr sz="1000">
                <a:solidFill>
                  <a:srgbClr val="DDFFDD"/>
                </a:solidFill>
                <a:latin typeface="Meiryo"/>
              </a:defRPr>
            </a:pPr>
            <a:r>
              <a:t>広告費 100万/月</a:t>
            </a:r>
          </a:p>
          <a:p>
            <a:pPr algn="ctr">
              <a:defRPr sz="1000">
                <a:solidFill>
                  <a:srgbClr val="DDFFDD"/>
                </a:solidFill>
                <a:latin typeface="Meiryo"/>
              </a:defRPr>
            </a:pPr>
            <a:r>
              <a:t>月間 ~3,000-5,000件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486400" y="1920240"/>
            <a:ext cx="457200" cy="274320"/>
          </a:xfrm>
          <a:prstGeom prst="rightArrow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035040" y="1463040"/>
            <a:ext cx="2286000" cy="1188720"/>
          </a:xfrm>
          <a:prstGeom prst="roundRect">
            <a:avLst>
              <a:gd name="adj" fmla="val 5000"/>
            </a:avLst>
          </a:prstGeom>
          <a:solidFill>
            <a:srgbClr val="2E6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Meiryo"/>
              </a:defRPr>
            </a:pPr>
            <a:r>
              <a:t>LINE登録</a:t>
            </a:r>
          </a:p>
          <a:p>
            <a:pPr algn="ctr">
              <a:defRPr sz="1000">
                <a:solidFill>
                  <a:srgbClr val="DDFFDD"/>
                </a:solidFill>
                <a:latin typeface="Meiryo"/>
              </a:defRPr>
            </a:pPr>
            <a:r>
              <a:t>ケースプレゼント施策</a:t>
            </a:r>
          </a:p>
          <a:p>
            <a:pPr algn="ctr">
              <a:defRPr sz="1000">
                <a:solidFill>
                  <a:srgbClr val="DDFFDD"/>
                </a:solidFill>
                <a:latin typeface="Meiryo"/>
              </a:defRPr>
            </a:pPr>
            <a:r>
              <a:t>登録率 5.3% / 1,300人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412480" y="1920240"/>
            <a:ext cx="457200" cy="274320"/>
          </a:xfrm>
          <a:prstGeom prst="rightArrow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61120" y="1463040"/>
            <a:ext cx="2560320" cy="118872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Meiryo"/>
              </a:defRPr>
            </a:pPr>
            <a:r>
              <a:t>CRM育成</a:t>
            </a:r>
          </a:p>
          <a:p>
            <a:pPr algn="ctr">
              <a:defRPr sz="1000">
                <a:solidFill>
                  <a:srgbClr val="AAAAAA"/>
                </a:solidFill>
                <a:latin typeface="Meiryo"/>
              </a:defRPr>
            </a:pPr>
            <a:r>
              <a:t>LINE Harness（自社開発）</a:t>
            </a:r>
          </a:p>
          <a:p>
            <a:pPr algn="ctr">
              <a:defRPr sz="1000">
                <a:solidFill>
                  <a:srgbClr val="AAAAAA"/>
                </a:solidFill>
                <a:latin typeface="Meiryo"/>
              </a:defRPr>
            </a:pPr>
            <a:r>
              <a:t>シナリオ配信+AI診断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9418320" y="2834640"/>
            <a:ext cx="274320" cy="457200"/>
          </a:xfrm>
          <a:prstGeom prst="downArrow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own Arrow 12"/>
          <p:cNvSpPr/>
          <p:nvPr/>
        </p:nvSpPr>
        <p:spPr>
          <a:xfrm>
            <a:off x="10332720" y="2834640"/>
            <a:ext cx="274320" cy="457200"/>
          </a:xfrm>
          <a:prstGeom prst="downArrow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321040" y="3474720"/>
            <a:ext cx="1828800" cy="914400"/>
          </a:xfrm>
          <a:prstGeom prst="roundRect">
            <a:avLst>
              <a:gd name="adj" fmla="val 5000"/>
            </a:avLst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eiryo"/>
              </a:defRPr>
            </a:pPr>
            <a:r>
              <a:t>フルボトル購入</a:t>
            </a:r>
          </a:p>
          <a:p>
            <a:pPr algn="ctr">
              <a:defRPr sz="900">
                <a:solidFill>
                  <a:srgbClr val="FFCCCC"/>
                </a:solidFill>
                <a:latin typeface="Meiryo"/>
              </a:defRPr>
            </a:pPr>
            <a:r>
              <a:t>自社EC(Stripe) / 高利益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332720" y="3474720"/>
            <a:ext cx="1463040" cy="91440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eiryo"/>
              </a:defRPr>
            </a:pPr>
            <a:r>
              <a:t>クロスセル</a:t>
            </a:r>
          </a:p>
          <a:p>
            <a:pPr algn="ctr">
              <a:defRPr sz="900">
                <a:solidFill>
                  <a:srgbClr val="AAAAAA"/>
                </a:solidFill>
                <a:latin typeface="Meiryo"/>
              </a:defRPr>
            </a:pPr>
            <a:r>
              <a:t>別の小分け(Amazon)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572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3A7D44"/>
                </a:solidFill>
                <a:latin typeface="Meiryo"/>
              </a:defRPr>
            </a:pPr>
            <a:r>
              <a:t>サステナブルループ（新規事業）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5029200"/>
            <a:ext cx="2011680" cy="64008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1A"/>
                </a:solidFill>
                <a:latin typeface="Meiryo"/>
              </a:defRPr>
            </a:pPr>
            <a:r>
              <a:t>① 小分け製造時の空き瓶</a:t>
            </a:r>
            <a:br/>
            <a:r>
              <a:t>（自社ラボで発生）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5806440"/>
            <a:ext cx="2011680" cy="64008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1A"/>
                </a:solidFill>
                <a:latin typeface="Meiryo"/>
              </a:defRPr>
            </a:pPr>
            <a:r>
              <a:t>② お客様のフルボトル空き瓶</a:t>
            </a:r>
            <a:br/>
            <a:r>
              <a:t>（将来の回収事業）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2468880" y="5532120"/>
            <a:ext cx="365760" cy="228600"/>
          </a:xfrm>
          <a:prstGeom prst="rightArrow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926080" y="5212080"/>
            <a:ext cx="2011680" cy="82296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FFFFFF"/>
                </a:solidFill>
                <a:latin typeface="Meiryo"/>
              </a:defRPr>
            </a:pPr>
            <a:r>
              <a:t>3Dプリンタ</a:t>
            </a:r>
            <a:br/>
            <a:r>
              <a:t>ナイトライト製作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5029200" y="5440680"/>
            <a:ext cx="365760" cy="228600"/>
          </a:xfrm>
          <a:prstGeom prst="rightArrow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86400" y="5029200"/>
            <a:ext cx="2011680" cy="64008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FFFFF"/>
                </a:solidFill>
                <a:latin typeface="Meiryo"/>
              </a:defRPr>
            </a:pPr>
            <a:r>
              <a:t>TikTok Shop / 自社EC</a:t>
            </a:r>
            <a:br/>
            <a:r>
              <a:t>メルカリShopで販売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0" y="5806440"/>
            <a:ext cx="2011680" cy="64008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FFFFF"/>
                </a:solidFill>
                <a:latin typeface="Meiryo"/>
              </a:defRPr>
            </a:pPr>
            <a:r>
              <a:t>製作動画をTikTok投稿</a:t>
            </a:r>
            <a:br/>
            <a:r>
              <a:t>サステナブル×おしゃれ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589520" y="5532120"/>
            <a:ext cx="365760" cy="228600"/>
          </a:xfrm>
          <a:prstGeom prst="rightArrow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046720" y="5212080"/>
            <a:ext cx="1828800" cy="82296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2E6B38"/>
                </a:solidFill>
                <a:latin typeface="Meiryo"/>
              </a:defRPr>
            </a:pPr>
            <a:r>
              <a:t>新規認知</a:t>
            </a:r>
            <a:br/>
            <a:r>
              <a:t>→ 小分け購入</a:t>
            </a:r>
            <a:br/>
            <a:r>
              <a:t>→ ループ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8961120" y="4480560"/>
            <a:ext cx="274320" cy="274320"/>
          </a:xfrm>
          <a:prstGeom prst="downArrow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COLLEGRANCE  |  合同会社ヤシノミ  |  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37160" cy="4572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1A1A1A"/>
                </a:solidFill>
                <a:latin typeface="Meiryo"/>
              </a:defRPr>
            </a:pPr>
            <a:r>
              <a:t>Amazon販売実績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666666"/>
                </a:solidFill>
                <a:latin typeface="Meiryo"/>
              </a:defRPr>
            </a:pPr>
            <a:r>
              <a:t>2025年10月〜2026年4月（推定値含む）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399726"/>
            <a:ext cx="1097280" cy="903793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731520" y="389680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1A1A1A"/>
                </a:solidFill>
                <a:latin typeface="Meiryo"/>
              </a:defRPr>
            </a:pPr>
            <a:r>
              <a:t>1,587件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25406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Meiryo"/>
              </a:defRPr>
            </a:pPr>
            <a:r>
              <a:t>¥1,731,301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349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A1A1A"/>
                </a:solidFill>
                <a:latin typeface="Meiryo"/>
              </a:defRPr>
            </a:pPr>
            <a:r>
              <a:t>10月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48840" y="3765306"/>
            <a:ext cx="1097280" cy="1538213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2148840" y="326238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1A1A1A"/>
                </a:solidFill>
                <a:latin typeface="Meiryo"/>
              </a:defRPr>
            </a:pPr>
            <a:r>
              <a:t>2,701件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3490986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Meiryo"/>
              </a:defRPr>
            </a:pPr>
            <a:r>
              <a:t>¥2,946,791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5349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A1A1A"/>
                </a:solidFill>
                <a:latin typeface="Meiryo"/>
              </a:defRPr>
            </a:pPr>
            <a:r>
              <a:t>11月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66160" y="2377440"/>
            <a:ext cx="1097280" cy="2926080"/>
          </a:xfrm>
          <a:prstGeom prst="roundRect">
            <a:avLst>
              <a:gd name="adj" fmla="val 5000"/>
            </a:avLst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3566160" y="1874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E63946"/>
                </a:solidFill>
                <a:latin typeface="Meiryo"/>
              </a:defRPr>
            </a:pPr>
            <a:r>
              <a:t>5,138件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10312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Meiryo"/>
              </a:defRPr>
            </a:pPr>
            <a:r>
              <a:t>¥5,605,558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5349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A1A1A"/>
                </a:solidFill>
                <a:latin typeface="Meiryo"/>
              </a:defRPr>
            </a:pPr>
            <a:r>
              <a:t>12月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83480" y="3270412"/>
            <a:ext cx="1097280" cy="2033107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4983480" y="276749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1A1A1A"/>
                </a:solidFill>
                <a:latin typeface="Meiryo"/>
              </a:defRPr>
            </a:pPr>
            <a:r>
              <a:t>3,570件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83480" y="29960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Meiryo"/>
              </a:defRPr>
            </a:pPr>
            <a:r>
              <a:t>¥3,894,870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83480" y="5349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A1A1A"/>
                </a:solidFill>
                <a:latin typeface="Meiryo"/>
              </a:defRPr>
            </a:pPr>
            <a:r>
              <a:t>1月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2710596"/>
            <a:ext cx="1097280" cy="2592923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6400800" y="220767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1A1A1A"/>
                </a:solidFill>
                <a:latin typeface="Meiryo"/>
              </a:defRPr>
            </a:pPr>
            <a:r>
              <a:t>4,553件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436276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Meiryo"/>
              </a:defRPr>
            </a:pPr>
            <a:r>
              <a:t>¥4,967,323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5349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A1A1A"/>
                </a:solidFill>
                <a:latin typeface="Meiryo"/>
              </a:defRPr>
            </a:pPr>
            <a:r>
              <a:t>2月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818120" y="2743057"/>
            <a:ext cx="1097280" cy="2560462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7818120" y="224013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1A1A1A"/>
                </a:solidFill>
                <a:latin typeface="Meiryo"/>
              </a:defRPr>
            </a:pPr>
            <a:r>
              <a:t>4,496件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18120" y="2468737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Meiryo"/>
              </a:defRPr>
            </a:pPr>
            <a:r>
              <a:t>¥4,905,136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18120" y="5349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A1A1A"/>
                </a:solidFill>
                <a:latin typeface="Meiryo"/>
              </a:defRPr>
            </a:pPr>
            <a:r>
              <a:t>3月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235440" y="4324553"/>
            <a:ext cx="1097280" cy="978966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30" name="TextBox 29"/>
          <p:cNvSpPr txBox="1"/>
          <p:nvPr/>
        </p:nvSpPr>
        <p:spPr>
          <a:xfrm>
            <a:off x="9235440" y="382163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1A1A1A"/>
                </a:solidFill>
                <a:latin typeface="Meiryo"/>
              </a:defRPr>
            </a:pPr>
            <a:r>
              <a:t>1,719件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4050233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Meiryo"/>
              </a:defRPr>
            </a:pPr>
            <a:r>
              <a:t>¥1,875,429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5349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A1A1A"/>
                </a:solidFill>
                <a:latin typeface="Meiryo"/>
              </a:defRPr>
            </a:pPr>
            <a:r>
              <a:t>4月*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137160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spcAft>
                <a:spcPts val="200"/>
              </a:spcAft>
              <a:defRPr sz="1400" b="1">
                <a:solidFill>
                  <a:srgbClr val="666666"/>
                </a:solidFill>
                <a:latin typeface="Meiryo"/>
              </a:defRPr>
            </a:pPr>
            <a:r>
              <a:t>累計</a:t>
            </a:r>
          </a:p>
          <a:p>
            <a:pPr algn="l">
              <a:lnSpc>
                <a:spcPts val="4680"/>
              </a:lnSpc>
              <a:spcAft>
                <a:spcPts val="200"/>
              </a:spcAft>
              <a:defRPr sz="3600" b="1">
                <a:solidFill>
                  <a:srgbClr val="E63946"/>
                </a:solidFill>
                <a:latin typeface="Meiryo"/>
              </a:defRPr>
            </a:pPr>
            <a:r>
              <a:t>23,764 件</a:t>
            </a:r>
          </a:p>
          <a:p>
            <a:pPr algn="l">
              <a:lnSpc>
                <a:spcPts val="1040"/>
              </a:lnSpc>
              <a:spcAft>
                <a:spcPts val="200"/>
              </a:spcAft>
              <a:defRPr sz="800" b="0">
                <a:solidFill>
                  <a:srgbClr val="333333"/>
                </a:solidFill>
                <a:latin typeface="Meiryo"/>
              </a:defRPr>
            </a:pPr>
          </a:p>
          <a:p>
            <a:pPr algn="l">
              <a:lnSpc>
                <a:spcPts val="1820"/>
              </a:lnSpc>
              <a:spcAft>
                <a:spcPts val="200"/>
              </a:spcAft>
              <a:defRPr sz="1400" b="1">
                <a:solidFill>
                  <a:srgbClr val="666666"/>
                </a:solidFill>
                <a:latin typeface="Meiryo"/>
              </a:defRPr>
            </a:pPr>
            <a:r>
              <a:t>累計売上（推定）</a:t>
            </a:r>
          </a:p>
          <a:p>
            <a:pPr algn="l">
              <a:lnSpc>
                <a:spcPts val="3900"/>
              </a:lnSpc>
              <a:spcAft>
                <a:spcPts val="200"/>
              </a:spcAft>
              <a:defRPr sz="3000" b="1">
                <a:solidFill>
                  <a:srgbClr val="1A1A1A"/>
                </a:solidFill>
                <a:latin typeface="Meiryo"/>
              </a:defRPr>
            </a:pPr>
            <a:r>
              <a:t>¥25,926,524</a:t>
            </a:r>
          </a:p>
          <a:p>
            <a:pPr algn="l">
              <a:lnSpc>
                <a:spcPts val="1040"/>
              </a:lnSpc>
              <a:spcAft>
                <a:spcPts val="200"/>
              </a:spcAft>
              <a:defRPr sz="800" b="0">
                <a:solidFill>
                  <a:srgbClr val="333333"/>
                </a:solidFill>
                <a:latin typeface="Meiryo"/>
              </a:defRPr>
            </a:pPr>
          </a:p>
          <a:p>
            <a:pPr algn="l">
              <a:lnSpc>
                <a:spcPts val="1560"/>
              </a:lnSpc>
              <a:spcAft>
                <a:spcPts val="200"/>
              </a:spcAft>
              <a:defRPr sz="1200" b="0">
                <a:solidFill>
                  <a:srgbClr val="666666"/>
                </a:solidFill>
                <a:latin typeface="Meiryo"/>
              </a:defRPr>
            </a:pPr>
            <a:r>
              <a:t>平均単価</a:t>
            </a:r>
          </a:p>
          <a:p>
            <a:pPr algn="l">
              <a:lnSpc>
                <a:spcPts val="2860"/>
              </a:lnSpc>
              <a:spcAft>
                <a:spcPts val="200"/>
              </a:spcAft>
              <a:defRPr sz="2200" b="1">
                <a:solidFill>
                  <a:srgbClr val="1A1A1A"/>
                </a:solidFill>
                <a:latin typeface="Meiryo"/>
              </a:defRPr>
            </a:pPr>
            <a:r>
              <a:t>¥1,091</a:t>
            </a:r>
          </a:p>
          <a:p>
            <a:pPr algn="l">
              <a:lnSpc>
                <a:spcPts val="1040"/>
              </a:lnSpc>
              <a:spcAft>
                <a:spcPts val="200"/>
              </a:spcAft>
              <a:defRPr sz="800" b="0">
                <a:solidFill>
                  <a:srgbClr val="333333"/>
                </a:solidFill>
                <a:latin typeface="Meiryo"/>
              </a:defRPr>
            </a:pPr>
          </a:p>
          <a:p>
            <a:pPr algn="l">
              <a:lnSpc>
                <a:spcPts val="1560"/>
              </a:lnSpc>
              <a:spcAft>
                <a:spcPts val="200"/>
              </a:spcAft>
              <a:defRPr sz="1200" b="0">
                <a:solidFill>
                  <a:srgbClr val="666666"/>
                </a:solidFill>
                <a:latin typeface="Meiryo"/>
              </a:defRPr>
            </a:pPr>
            <a:r>
              <a:t>広告費</a:t>
            </a:r>
          </a:p>
          <a:p>
            <a:pPr algn="l">
              <a:lnSpc>
                <a:spcPts val="2340"/>
              </a:lnSpc>
              <a:spcAft>
                <a:spcPts val="200"/>
              </a:spcAft>
              <a:defRPr sz="1800" b="1">
                <a:solidFill>
                  <a:srgbClr val="3A7D44"/>
                </a:solidFill>
                <a:latin typeface="Meiryo"/>
              </a:defRPr>
            </a:pPr>
            <a:r>
              <a:t>月間 約100万円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7607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※ 10月実測値をベースにアンケート回答率から推定。4月は4/15まで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COLLEGRANCE  |  合同会社ヤシノミ  |  Confidential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37160" cy="4572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1A1A1A"/>
                </a:solidFill>
                <a:latin typeface="Meiryo"/>
              </a:defRPr>
            </a:pPr>
            <a:r>
              <a:t>アンケートファネル分析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666666"/>
                </a:solidFill>
                <a:latin typeface="Meiryo"/>
              </a:defRPr>
            </a:pPr>
            <a:r>
              <a:t>Amazon購入者 → LINE登録 → クロスセル/アップセル対象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-457200" y="1371600"/>
            <a:ext cx="9144000" cy="82296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eiryo"/>
              </a:defRPr>
            </a:pPr>
            <a:r>
              <a:t>Amazon購入者（推定）    23,764人    (100%)</a:t>
            </a:r>
          </a:p>
        </p:txBody>
      </p:sp>
      <p:sp>
        <p:nvSpPr>
          <p:cNvPr id="6" name="Down Arrow 5"/>
          <p:cNvSpPr/>
          <p:nvPr/>
        </p:nvSpPr>
        <p:spPr>
          <a:xfrm>
            <a:off x="3977640" y="2194560"/>
            <a:ext cx="274320" cy="2286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2468880"/>
            <a:ext cx="7315200" cy="82296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eiryo"/>
              </a:defRPr>
            </a:pPr>
            <a:r>
              <a:t>LINE登録（アンケート回答）    1,258人    (登録率 5.3%)</a:t>
            </a:r>
          </a:p>
        </p:txBody>
      </p:sp>
      <p:sp>
        <p:nvSpPr>
          <p:cNvPr id="8" name="Down Arrow 7"/>
          <p:cNvSpPr/>
          <p:nvPr/>
        </p:nvSpPr>
        <p:spPr>
          <a:xfrm>
            <a:off x="3977640" y="3291840"/>
            <a:ext cx="274320" cy="2286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143000" y="3566160"/>
            <a:ext cx="5943600" cy="822960"/>
          </a:xfrm>
          <a:prstGeom prst="roundRect">
            <a:avLst>
              <a:gd name="adj" fmla="val 5000"/>
            </a:avLst>
          </a:prstGeom>
          <a:solidFill>
            <a:srgbClr val="2E6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eiryo"/>
              </a:defRPr>
            </a:pPr>
            <a:r>
              <a:t>「他にも試したい」    1,087人    (86.4%)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3977640" y="4389120"/>
            <a:ext cx="274320" cy="2286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828800" y="4663440"/>
            <a:ext cx="4572000" cy="822960"/>
          </a:xfrm>
          <a:prstGeom prst="roundRect">
            <a:avLst>
              <a:gd name="adj" fmla="val 5000"/>
            </a:avLst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eiryo"/>
              </a:defRPr>
            </a:pPr>
            <a:r>
              <a:t>「フルボトル検討中」    728人    (57.9%)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0" y="3566160"/>
            <a:ext cx="2560320" cy="914400"/>
          </a:xfrm>
          <a:prstGeom prst="roundRect">
            <a:avLst>
              <a:gd name="adj" fmla="val 5000"/>
            </a:avLst>
          </a:prstGeom>
          <a:solidFill>
            <a:srgbClr val="2E6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Meiryo"/>
              </a:defRPr>
            </a:pPr>
            <a:r>
              <a:t>クロスセル対象</a:t>
            </a:r>
            <a:br/>
            <a:r>
              <a:t>1,087人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0" y="4663440"/>
            <a:ext cx="2560320" cy="914400"/>
          </a:xfrm>
          <a:prstGeom prst="roundRect">
            <a:avLst>
              <a:gd name="adj" fmla="val 5000"/>
            </a:avLst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Meiryo"/>
              </a:defRPr>
            </a:pPr>
            <a:r>
              <a:t>アップセル対象</a:t>
            </a:r>
            <a:br/>
            <a:r>
              <a:t>728人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6692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80"/>
              </a:lnSpc>
              <a:spcAft>
                <a:spcPts val="200"/>
              </a:spcAft>
              <a:defRPr sz="1600" b="1">
                <a:solidFill>
                  <a:srgbClr val="E63946"/>
                </a:solidFill>
                <a:latin typeface="Meiryo"/>
              </a:defRPr>
            </a:pPr>
            <a:r>
              <a:t>★ 728人がフルボトル購入を検討中</a:t>
            </a:r>
          </a:p>
          <a:p>
            <a:pPr algn="l">
              <a:lnSpc>
                <a:spcPts val="1690"/>
              </a:lnSpc>
              <a:spcAft>
                <a:spcPts val="200"/>
              </a:spcAft>
              <a:defRPr sz="1300" b="0">
                <a:solidFill>
                  <a:srgbClr val="333333"/>
                </a:solidFill>
                <a:latin typeface="Meiryo"/>
              </a:defRPr>
            </a:pPr>
            <a:r>
              <a:t>→ LINE配信で購入に誘導する仕組みを構築中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COLLEGRANCE  |  合同会社ヤシノミ  |  Confidential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37160" cy="4572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1A1A1A"/>
                </a:solidFill>
                <a:latin typeface="Meiryo"/>
              </a:defRPr>
            </a:pPr>
            <a:r>
              <a:t>顧客属性（アンケートデータ）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666666"/>
                </a:solidFill>
                <a:latin typeface="Meiryo"/>
              </a:defRPr>
            </a:pPr>
            <a:r>
              <a:t>回答者: 1,258人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3A7D44"/>
                </a:solidFill>
                <a:latin typeface="Meiryo"/>
              </a:defRPr>
            </a:pPr>
            <a:r>
              <a:t>性別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3200400" cy="41148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Meiryo"/>
              </a:defRPr>
            </a:pPr>
            <a:r>
              <a:t>男性 70%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31920" y="1737360"/>
            <a:ext cx="1325880" cy="41148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Meiryo"/>
              </a:defRPr>
            </a:pPr>
            <a:r>
              <a:t>女性 29%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57800" y="1737360"/>
            <a:ext cx="45720" cy="411480"/>
          </a:xfrm>
          <a:prstGeom prst="roundRect">
            <a:avLst>
              <a:gd name="adj" fmla="val 5000"/>
            </a:avLst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Meiryo"/>
              </a:defRPr>
            </a:pPr>
            <a:r>
              <a:t>その他 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774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3A7D44"/>
                </a:solidFill>
                <a:latin typeface="Meiryo"/>
              </a:defRPr>
            </a:pPr>
            <a:r>
              <a:t>年齢分布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7432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333333"/>
                </a:solidFill>
                <a:latin typeface="Meiryo"/>
              </a:defRPr>
            </a:pPr>
            <a:r>
              <a:t>50代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54480" y="2770632"/>
            <a:ext cx="3657600" cy="27432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FFFFF"/>
                </a:solidFill>
                <a:latin typeface="Meiryo"/>
              </a:defRPr>
            </a:pPr>
            <a:r>
              <a:t>25%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09067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333333"/>
                </a:solidFill>
                <a:latin typeface="Meiryo"/>
              </a:defRPr>
            </a:pPr>
            <a:r>
              <a:t>40代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54480" y="3118104"/>
            <a:ext cx="2926080" cy="27432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FFFFF"/>
                </a:solidFill>
                <a:latin typeface="Meiryo"/>
              </a:defRPr>
            </a:pPr>
            <a:r>
              <a:t>20%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438144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333333"/>
                </a:solidFill>
                <a:latin typeface="Meiryo"/>
              </a:defRPr>
            </a:pPr>
            <a:r>
              <a:t>30代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54480" y="3465576"/>
            <a:ext cx="2779776" cy="27432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FFFFF"/>
                </a:solidFill>
                <a:latin typeface="Meiryo"/>
              </a:defRPr>
            </a:pPr>
            <a:r>
              <a:t>19%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785616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333333"/>
                </a:solidFill>
                <a:latin typeface="Meiryo"/>
              </a:defRPr>
            </a:pPr>
            <a:r>
              <a:t>20代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554480" y="3813048"/>
            <a:ext cx="2633472" cy="27432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FFFFF"/>
                </a:solidFill>
                <a:latin typeface="Meiryo"/>
              </a:defRPr>
            </a:pPr>
            <a:r>
              <a:t>18%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13308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333333"/>
                </a:solidFill>
                <a:latin typeface="Meiryo"/>
              </a:defRPr>
            </a:pPr>
            <a:r>
              <a:t>60代〜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54480" y="4160520"/>
            <a:ext cx="1755648" cy="27432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FFFFF"/>
                </a:solidFill>
                <a:latin typeface="Meiryo"/>
              </a:defRPr>
            </a:pPr>
            <a:r>
              <a:t>12%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4805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333333"/>
                </a:solidFill>
                <a:latin typeface="Meiryo"/>
              </a:defRPr>
            </a:pPr>
            <a:r>
              <a:t>10代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554480" y="4507992"/>
            <a:ext cx="877824" cy="27432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FFFFF"/>
                </a:solidFill>
                <a:latin typeface="Meiryo"/>
              </a:defRPr>
            </a:pPr>
            <a:r>
              <a:t>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3A7D44"/>
                </a:solidFill>
                <a:latin typeface="Meiryo"/>
              </a:defRPr>
            </a:pPr>
            <a:r>
              <a:t>満足度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17373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Aft>
                <a:spcPts val="0"/>
              </a:spcAft>
              <a:defRPr sz="2800" b="1">
                <a:solidFill>
                  <a:srgbClr val="E63946"/>
                </a:solidFill>
                <a:latin typeface="Meiryo"/>
              </a:defRPr>
            </a:pPr>
            <a:r>
              <a:t>★4以上: 88.9%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24688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333333"/>
                </a:solidFill>
                <a:latin typeface="Meiryo"/>
              </a:defRPr>
            </a:pPr>
            <a:r>
              <a:t>★5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92240" y="2496312"/>
            <a:ext cx="3168396" cy="228600"/>
          </a:xfrm>
          <a:prstGeom prst="roundRect">
            <a:avLst>
              <a:gd name="adj" fmla="val 5000"/>
            </a:avLst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FFFFFF"/>
                </a:solidFill>
                <a:latin typeface="Meiryo"/>
              </a:defRPr>
            </a:pPr>
            <a:r>
              <a:t>59.4%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27889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333333"/>
                </a:solidFill>
                <a:latin typeface="Meiryo"/>
              </a:defRPr>
            </a:pPr>
            <a:r>
              <a:t>★4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92240" y="2816352"/>
            <a:ext cx="1573530" cy="22860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FFFFFF"/>
                </a:solidFill>
                <a:latin typeface="Meiryo"/>
              </a:defRPr>
            </a:pPr>
            <a:r>
              <a:t>29.5%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0" y="3108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333333"/>
                </a:solidFill>
                <a:latin typeface="Meiryo"/>
              </a:defRPr>
            </a:pPr>
            <a:r>
              <a:t>★3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92240" y="3136392"/>
            <a:ext cx="506730" cy="228600"/>
          </a:xfrm>
          <a:prstGeom prst="roundRect">
            <a:avLst>
              <a:gd name="adj" fmla="val 5000"/>
            </a:avLst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FFFFFF"/>
                </a:solidFill>
                <a:latin typeface="Meiryo"/>
              </a:defRPr>
            </a:pPr>
            <a:r>
              <a:t>9.5%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34290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333333"/>
                </a:solidFill>
                <a:latin typeface="Meiryo"/>
              </a:defRPr>
            </a:pPr>
            <a:r>
              <a:t>★2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92240" y="3456432"/>
            <a:ext cx="58674" cy="228600"/>
          </a:xfrm>
          <a:prstGeom prst="roundRect">
            <a:avLst>
              <a:gd name="adj" fmla="val 5000"/>
            </a:avLst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FFFFFF"/>
                </a:solidFill>
                <a:latin typeface="Meiryo"/>
              </a:defRPr>
            </a:pPr>
            <a:r>
              <a:t>1.1%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7490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333333"/>
                </a:solidFill>
                <a:latin typeface="Meiryo"/>
              </a:defRPr>
            </a:pPr>
            <a:r>
              <a:t>★1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92240" y="3776472"/>
            <a:ext cx="26670" cy="228600"/>
          </a:xfrm>
          <a:prstGeom prst="roundRect">
            <a:avLst>
              <a:gd name="adj" fmla="val 5000"/>
            </a:avLst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FFFFFF"/>
                </a:solidFill>
                <a:latin typeface="Meiryo"/>
              </a:defRPr>
            </a:pPr>
            <a:r>
              <a:t>0.5%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0" y="43891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3A7D44"/>
                </a:solidFill>
                <a:latin typeface="Meiryo"/>
              </a:defRPr>
            </a:pPr>
            <a:r>
              <a:t>香水を知ったきっかけ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0" y="47548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333333"/>
                </a:solidFill>
                <a:latin typeface="Meiryo"/>
              </a:defRPr>
            </a:pPr>
            <a:r>
              <a:t>YouTube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0" y="4782312"/>
            <a:ext cx="2651760" cy="22860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FFFFFF"/>
                </a:solidFill>
                <a:latin typeface="Meiryo"/>
              </a:defRPr>
            </a:pPr>
            <a:r>
              <a:t>29%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0" y="50474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333333"/>
                </a:solidFill>
                <a:latin typeface="Meiryo"/>
              </a:defRPr>
            </a:pPr>
            <a:r>
              <a:t>Amazon・楽天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0" y="5074920"/>
            <a:ext cx="2377440" cy="22860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FFFFFF"/>
                </a:solidFill>
                <a:latin typeface="Meiryo"/>
              </a:defRPr>
            </a:pPr>
            <a:r>
              <a:t>26%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0" y="5340096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333333"/>
                </a:solidFill>
                <a:latin typeface="Meiryo"/>
              </a:defRPr>
            </a:pPr>
            <a:r>
              <a:t>SNS(IG/TikTok)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0" y="5367528"/>
            <a:ext cx="2011680" cy="22860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FFFFFF"/>
                </a:solidFill>
                <a:latin typeface="Meiryo"/>
              </a:defRPr>
            </a:pPr>
            <a:r>
              <a:t>22%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0" y="56327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333333"/>
                </a:solidFill>
                <a:latin typeface="Meiryo"/>
              </a:defRPr>
            </a:pPr>
            <a:r>
              <a:t>友人・知人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772400" y="5660136"/>
            <a:ext cx="1097280" cy="22860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FFFFFF"/>
                </a:solidFill>
                <a:latin typeface="Meiryo"/>
              </a:defRPr>
            </a:pPr>
            <a:r>
              <a:t>12%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43600" y="592531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333333"/>
                </a:solidFill>
                <a:latin typeface="Meiryo"/>
              </a:defRPr>
            </a:pPr>
            <a:r>
              <a:t>雑誌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772400" y="5952744"/>
            <a:ext cx="548640" cy="22860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FFFFFF"/>
                </a:solidFill>
                <a:latin typeface="Meiryo"/>
              </a:defRPr>
            </a:pPr>
            <a:r>
              <a:t>6%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62179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333333"/>
                </a:solidFill>
                <a:latin typeface="Meiryo"/>
              </a:defRPr>
            </a:pPr>
            <a:r>
              <a:t>その他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772400" y="6245352"/>
            <a:ext cx="457200" cy="22860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FFFFFF"/>
                </a:solidFill>
                <a:latin typeface="Meiryo"/>
              </a:defRPr>
            </a:pPr>
            <a:r>
              <a:t>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48463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3A7D44"/>
                </a:solidFill>
                <a:latin typeface="Meiryo"/>
              </a:defRPr>
            </a:pPr>
            <a:r>
              <a:t>人気商品TOP3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52120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E63946"/>
                </a:solidFill>
                <a:latin typeface="Meiryo"/>
              </a:defRPr>
            </a:pPr>
            <a:r>
              <a:t>1位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52120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333333"/>
                </a:solidFill>
                <a:latin typeface="Meiryo"/>
              </a:defRPr>
            </a:pPr>
            <a:r>
              <a:t>商品030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743200" y="5212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1A1A1A"/>
                </a:solidFill>
                <a:latin typeface="Meiryo"/>
              </a:defRPr>
            </a:pPr>
            <a:r>
              <a:t>42.1%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1520" y="55321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E63946"/>
                </a:solidFill>
                <a:latin typeface="Meiryo"/>
              </a:defRPr>
            </a:pPr>
            <a:r>
              <a:t>2位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280160" y="55321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333333"/>
                </a:solidFill>
                <a:latin typeface="Meiryo"/>
              </a:defRPr>
            </a:pPr>
            <a:r>
              <a:t>商品018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43200" y="55321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1A1A1A"/>
                </a:solidFill>
                <a:latin typeface="Meiryo"/>
              </a:defRPr>
            </a:pPr>
            <a:r>
              <a:t>20.6%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" y="58521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E63946"/>
                </a:solidFill>
                <a:latin typeface="Meiryo"/>
              </a:defRPr>
            </a:pPr>
            <a:r>
              <a:t>3位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80160" y="58521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333333"/>
                </a:solidFill>
                <a:latin typeface="Meiryo"/>
              </a:defRPr>
            </a:pPr>
            <a:r>
              <a:t>商品039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58521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1A1A1A"/>
                </a:solidFill>
                <a:latin typeface="Meiryo"/>
              </a:defRPr>
            </a:pPr>
            <a:r>
              <a:t>7.8%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COLLEGRANCE  |  合同会社ヤシノミ  |  Confidential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37160" cy="4572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1A1A1A"/>
                </a:solidFill>
                <a:latin typeface="Meiryo"/>
              </a:defRPr>
            </a:pPr>
            <a:r>
              <a:t>販売チャネル一覧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5156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3657600"/>
                <a:gridCol w="2286000"/>
              </a:tblGrid>
              <a:tr h="53340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チャネル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商品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役割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状態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Amazon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小分け+ケース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集客+販売（広告費100万/月）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A7D44"/>
                          </a:solidFill>
                          <a:latin typeface="Meiryo"/>
                        </a:defRPr>
                      </a:pPr>
                      <a:r>
                        <a:t>稼働中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TikTok Shop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小分け+ケース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コンテンツ → 販売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A7D44"/>
                          </a:solidFill>
                          <a:latin typeface="Meiryo"/>
                        </a:defRPr>
                      </a:pPr>
                      <a:r>
                        <a:t>稼働中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メルカリShop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小分け+ケース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販売チャネル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A7D44"/>
                          </a:solidFill>
                          <a:latin typeface="Meiryo"/>
                        </a:defRPr>
                      </a:pPr>
                      <a:r>
                        <a:t>稼働中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E63946"/>
                          </a:solidFill>
                          <a:latin typeface="Meiryo"/>
                        </a:defRPr>
                      </a:pPr>
                      <a:r>
                        <a:t>自社EC (Stripe)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フルボトル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E63946"/>
                          </a:solidFill>
                          <a:latin typeface="Meiryo"/>
                        </a:defRPr>
                      </a:pPr>
                      <a:r>
                        <a:t>高利益の本命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A7D44"/>
                          </a:solidFill>
                          <a:latin typeface="Meiryo"/>
                        </a:defRPr>
                      </a:pPr>
                      <a:r>
                        <a:t>稼働中（リニューアル完了）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自社EC (予定)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ナイトライト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サステナブル商品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666666"/>
                          </a:solidFill>
                          <a:latin typeface="Meiryo"/>
                        </a:defRPr>
                      </a:pPr>
                      <a:r>
                        <a:t>準備中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48463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3A7D44"/>
                </a:solidFill>
                <a:latin typeface="Meiryo"/>
              </a:defRPr>
            </a:pPr>
            <a:r>
              <a:t>チャネル戦略の考え方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212080"/>
            <a:ext cx="3200400" cy="91440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Meiryo"/>
              </a:defRPr>
            </a:pPr>
            <a:r>
              <a:t>Amazon</a:t>
            </a:r>
            <a:br/>
            <a:r>
              <a:t>集客エンジン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931920" y="5440680"/>
            <a:ext cx="365760" cy="228600"/>
          </a:xfrm>
          <a:prstGeom prst="rightArrow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89120" y="5212080"/>
            <a:ext cx="3200400" cy="914400"/>
          </a:xfrm>
          <a:prstGeom prst="roundRect">
            <a:avLst>
              <a:gd name="adj" fmla="val 5000"/>
            </a:avLst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Meiryo"/>
              </a:defRPr>
            </a:pPr>
            <a:r>
              <a:t>TikTok / メルカリ</a:t>
            </a:r>
            <a:br/>
            <a:r>
              <a:t>サブチャネル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589520" y="5440680"/>
            <a:ext cx="365760" cy="228600"/>
          </a:xfrm>
          <a:prstGeom prst="rightArrow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046720" y="5212080"/>
            <a:ext cx="3200400" cy="914400"/>
          </a:xfrm>
          <a:prstGeom prst="roundRect">
            <a:avLst>
              <a:gd name="adj" fmla="val 5000"/>
            </a:avLst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Meiryo"/>
              </a:defRPr>
            </a:pPr>
            <a:r>
              <a:t>自社EC</a:t>
            </a:r>
            <a:br/>
            <a:r>
              <a:t>マネタイズ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COLLEGRANCE  |  合同会社ヤシノミ  |  Confidential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37160" cy="4572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1A1A1A"/>
                </a:solidFill>
                <a:latin typeface="Meiryo"/>
              </a:defRPr>
            </a:pPr>
            <a:r>
              <a:t>LINE CRM設計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666666"/>
                </a:solidFill>
                <a:latin typeface="Meiryo"/>
              </a:defRPr>
            </a:pPr>
            <a:r>
              <a:t>LINE Harness（自社開発CRM/MA）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3A7D44"/>
                </a:solidFill>
                <a:latin typeface="Meiryo"/>
              </a:defRPr>
            </a:pPr>
            <a:r>
              <a:t>シナリオ配信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914400" cy="45720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Meiryo"/>
              </a:defRPr>
            </a:pPr>
            <a:r>
              <a:t>Day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737360"/>
            <a:ext cx="4114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333333"/>
                </a:solidFill>
                <a:latin typeface="Meiryo"/>
              </a:defRPr>
            </a:pPr>
            <a:r>
              <a:t>ウェルカム + 購入商品タグ付け</a:t>
            </a:r>
          </a:p>
        </p:txBody>
      </p:sp>
      <p:sp>
        <p:nvSpPr>
          <p:cNvPr id="8" name="Down Arrow 7"/>
          <p:cNvSpPr/>
          <p:nvPr/>
        </p:nvSpPr>
        <p:spPr>
          <a:xfrm>
            <a:off x="1051560" y="2240280"/>
            <a:ext cx="182880" cy="27432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2743200"/>
            <a:ext cx="914400" cy="457200"/>
          </a:xfrm>
          <a:prstGeom prst="roundRect">
            <a:avLst>
              <a:gd name="adj" fmla="val 5000"/>
            </a:avLst>
          </a:prstGeom>
          <a:solidFill>
            <a:srgbClr val="2E6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Meiryo"/>
              </a:defRPr>
            </a:pPr>
            <a:r>
              <a:t>Day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743200"/>
            <a:ext cx="4114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333333"/>
                </a:solidFill>
                <a:latin typeface="Meiryo"/>
              </a:defRPr>
            </a:pPr>
            <a:r>
              <a:t>「香りはいかがですか？」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1051560" y="3246120"/>
            <a:ext cx="182880" cy="27432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20" y="3749040"/>
            <a:ext cx="914400" cy="457200"/>
          </a:xfrm>
          <a:prstGeom prst="roundRect">
            <a:avLst>
              <a:gd name="adj" fmla="val 5000"/>
            </a:avLst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Meiryo"/>
              </a:defRPr>
            </a:pPr>
            <a:r>
              <a:t>Day 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749040"/>
            <a:ext cx="4114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333333"/>
                </a:solidFill>
                <a:latin typeface="Meiryo"/>
              </a:defRPr>
            </a:pPr>
            <a:r>
              <a:t>フルボトルLP配信</a:t>
            </a:r>
            <a:br/>
            <a:r>
              <a:t>collegrance.com/?from=sample&amp;product={ID}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051560" y="4251960"/>
            <a:ext cx="182880" cy="27432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4754880"/>
            <a:ext cx="914400" cy="45720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Meiryo"/>
              </a:defRPr>
            </a:pPr>
            <a:r>
              <a:t>Day 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754880"/>
            <a:ext cx="4114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333333"/>
                </a:solidFill>
                <a:latin typeface="Meiryo"/>
              </a:defRPr>
            </a:pPr>
            <a:r>
              <a:t>AI香水診断誘導</a:t>
            </a:r>
            <a:br/>
            <a:r>
              <a:t>collegrance.com/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2801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3A7D44"/>
                </a:solidFill>
                <a:latin typeface="Meiryo"/>
              </a:defRPr>
            </a:pPr>
            <a:r>
              <a:t>アンケート → レコメンド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0" y="1737360"/>
            <a:ext cx="1828800" cy="45720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Meiryo"/>
              </a:defRPr>
            </a:pPr>
            <a:r>
              <a:t>アンケート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173736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333333"/>
                </a:solidFill>
                <a:latin typeface="Meiryo"/>
              </a:defRPr>
            </a:pPr>
            <a:r>
              <a:t>「次に試したい香りは？」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7178040" y="2240280"/>
            <a:ext cx="182880" cy="27432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0" y="2926080"/>
            <a:ext cx="1828800" cy="457200"/>
          </a:xfrm>
          <a:prstGeom prst="roundRect">
            <a:avLst>
              <a:gd name="adj" fmla="val 5000"/>
            </a:avLst>
          </a:prstGeom>
          <a:solidFill>
            <a:srgbClr val="2E6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Meiryo"/>
              </a:defRPr>
            </a:pPr>
            <a:r>
              <a:t>タグ付け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29260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333333"/>
                </a:solidFill>
                <a:latin typeface="Meiryo"/>
              </a:defRPr>
            </a:pPr>
            <a:r>
              <a:t>回答に基づき興味タグ付与</a:t>
            </a:r>
          </a:p>
        </p:txBody>
      </p:sp>
      <p:sp>
        <p:nvSpPr>
          <p:cNvPr id="23" name="Down Arrow 22"/>
          <p:cNvSpPr/>
          <p:nvPr/>
        </p:nvSpPr>
        <p:spPr>
          <a:xfrm>
            <a:off x="7178040" y="3429000"/>
            <a:ext cx="182880" cy="27432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0800" y="4114800"/>
            <a:ext cx="1828800" cy="45720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Meiryo"/>
              </a:defRPr>
            </a:pPr>
            <a:r>
              <a:t>レコメンド配信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411480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333333"/>
                </a:solidFill>
                <a:latin typeface="Meiryo"/>
              </a:defRPr>
            </a:pPr>
            <a:r>
              <a:t>小分けおすすめLP</a:t>
            </a:r>
            <a:br/>
            <a:r>
              <a:t>?from=recommend&amp;product={ID}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5303520"/>
            <a:ext cx="10515600" cy="73152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A1A1A"/>
                </a:solidFill>
                <a:latin typeface="Meiryo"/>
              </a:defRPr>
            </a:pPr>
            <a:r>
              <a:t>ポイント: 商品IDに応じてURLを動的生成し、パーソナライズ配信を実現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COLLEGRANCE  |  合同会社ヤシノミ  |  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37160" cy="4572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1A1A1A"/>
                </a:solidFill>
                <a:latin typeface="Meiryo"/>
              </a:defRPr>
            </a:pPr>
            <a:r>
              <a:t>自社サイト + SNS戦略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3A7D44"/>
                </a:solidFill>
                <a:latin typeface="Meiryo"/>
              </a:defRPr>
            </a:pPr>
            <a:r>
              <a:t>collegrance.com（リニューアル完了）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37160" cy="22860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005840" y="17373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333333"/>
                </a:solidFill>
                <a:latin typeface="Meiryo"/>
              </a:defRPr>
            </a:pPr>
            <a:r>
              <a:t>AI香水診断（Claude AI）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103120"/>
            <a:ext cx="137160" cy="22860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" y="21031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333333"/>
                </a:solidFill>
                <a:latin typeface="Meiryo"/>
              </a:defRPr>
            </a:pPr>
            <a:r>
              <a:t>フルボトルEC（130種類、Stripe決済）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468880"/>
            <a:ext cx="137160" cy="22860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1005840" y="2468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333333"/>
                </a:solidFill>
                <a:latin typeface="Meiryo"/>
              </a:defRPr>
            </a:pPr>
            <a:r>
              <a:t>ブログ60本（SEO、100本目標）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834640"/>
            <a:ext cx="137160" cy="22860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1005840" y="28346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333333"/>
                </a:solidFill>
                <a:latin typeface="Meiryo"/>
              </a:defRPr>
            </a:pPr>
            <a:r>
              <a:t>商品LP（LINE配信のリンク先）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200400"/>
            <a:ext cx="137160" cy="22860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1005840" y="32004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333333"/>
                </a:solidFill>
                <a:latin typeface="Meiryo"/>
              </a:defRPr>
            </a:pPr>
            <a:r>
              <a:t>GA4 eコマーストラッキング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2801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3A7D44"/>
                </a:solidFill>
                <a:latin typeface="Meiryo"/>
              </a:defRPr>
            </a:pPr>
            <a:r>
              <a:t>SNS戦略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400800" y="1737360"/>
          <a:ext cx="50292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828800"/>
                <a:gridCol w="1828800"/>
              </a:tblGrid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チャネル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担当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状態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TikTok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みのべさん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A7D44"/>
                          </a:solidFill>
                          <a:latin typeface="Meiryo"/>
                        </a:defRPr>
                      </a:pPr>
                      <a:r>
                        <a:t>稼働中（毎日1本）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Threads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keito（中の人）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666666"/>
                          </a:solidFill>
                          <a:latin typeface="Meiryo"/>
                        </a:defRPr>
                      </a:pPr>
                      <a:r>
                        <a:t>準備中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Instagram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keito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666666"/>
                          </a:solidFill>
                          <a:latin typeface="Meiryo"/>
                        </a:defRPr>
                      </a:pPr>
                      <a:r>
                        <a:t>準備中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731520" y="41148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3A7D44"/>
                </a:solidFill>
                <a:latin typeface="Meiryo"/>
              </a:defRPr>
            </a:pPr>
            <a:r>
              <a:t>新施策: ナイトライト事業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57200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Meiryo"/>
              </a:defRPr>
            </a:pPr>
            <a:r>
              <a:t>フルボトル</a:t>
            </a:r>
            <a:br/>
            <a:r>
              <a:t>空き瓶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2423160" y="4892040"/>
            <a:ext cx="411480" cy="228600"/>
          </a:xfrm>
          <a:prstGeom prst="rightArrow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926080" y="457200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2E6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Meiryo"/>
              </a:defRPr>
            </a:pPr>
            <a:r>
              <a:t>3Dプリンタ</a:t>
            </a:r>
            <a:br/>
            <a:r>
              <a:t>で加工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4617720" y="4892040"/>
            <a:ext cx="411480" cy="228600"/>
          </a:xfrm>
          <a:prstGeom prst="rightArrow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120640" y="457200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Meiryo"/>
              </a:defRPr>
            </a:pPr>
            <a:r>
              <a:t>ナイトライト</a:t>
            </a:r>
            <a:br/>
            <a:r>
              <a:t>完成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812280" y="4892040"/>
            <a:ext cx="411480" cy="228600"/>
          </a:xfrm>
          <a:prstGeom prst="rightArrow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315200" y="457200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Meiryo"/>
              </a:defRPr>
            </a:pPr>
            <a:r>
              <a:t>TikTok動画</a:t>
            </a:r>
            <a:br/>
            <a:r>
              <a:t>で拡散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006840" y="4892040"/>
            <a:ext cx="411480" cy="228600"/>
          </a:xfrm>
          <a:prstGeom prst="rightArrow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509760" y="457200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Meiryo"/>
              </a:defRPr>
            </a:pPr>
            <a:r>
              <a:t>販売</a:t>
            </a:r>
            <a:br/>
            <a:r>
              <a:t>(各チャネル)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6692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3A7D44"/>
                </a:solidFill>
                <a:latin typeface="Meiryo"/>
              </a:defRPr>
            </a:pPr>
            <a:r>
              <a:t>香水の「試す → 使う → 残る → 再生 → 広がる」全ライフサイクルをビジネス化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COLLEGRANCE  |  合同会社ヤシノミ  |  Confidential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37160" cy="4572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1A1A1A"/>
                </a:solidFill>
                <a:latin typeface="Meiryo"/>
              </a:defRPr>
            </a:pPr>
            <a:r>
              <a:t>現在の戦略（これからやること）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666666"/>
                </a:solidFill>
                <a:latin typeface="Meiryo"/>
              </a:defRPr>
            </a:pPr>
            <a:r>
              <a:t>アンケートで判明した2つの巨大セグメント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5486400" cy="548640"/>
          </a:xfrm>
          <a:prstGeom prst="roundRect">
            <a:avLst>
              <a:gd name="adj" fmla="val 5000"/>
            </a:avLst>
          </a:prstGeom>
          <a:solidFill>
            <a:srgbClr val="2E6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Meiryo"/>
              </a:defRPr>
            </a:pPr>
            <a:r>
              <a:t>① 「他にも試したい」 1,087人（86.4%）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333333"/>
                </a:solidFill>
                <a:latin typeface="Meiryo"/>
              </a:defRPr>
            </a:pPr>
            <a:r>
              <a:t>LINEシナリオで別の小分けをレコメンド（クロスセル）</a:t>
            </a:r>
          </a:p>
          <a:p>
            <a:pPr algn="l">
              <a:lnSpc>
                <a:spcPts val="1690"/>
              </a:lnSpc>
              <a:spcAft>
                <a:spcPts val="200"/>
              </a:spcAft>
              <a:defRPr sz="1300" b="0">
                <a:solidFill>
                  <a:srgbClr val="3A7D44"/>
                </a:solidFill>
                <a:latin typeface="Meiryo"/>
              </a:defRPr>
            </a:pPr>
            <a:r>
              <a:t>→ 小分けおすすめLP（?from=recommend）</a:t>
            </a:r>
          </a:p>
          <a:p>
            <a:pPr algn="l">
              <a:lnSpc>
                <a:spcPts val="1690"/>
              </a:lnSpc>
              <a:spcAft>
                <a:spcPts val="200"/>
              </a:spcAft>
              <a:defRPr sz="1300" b="0">
                <a:solidFill>
                  <a:srgbClr val="3A7D44"/>
                </a:solidFill>
                <a:latin typeface="Meiryo"/>
              </a:defRPr>
            </a:pPr>
            <a:r>
              <a:t>→ Amazonで追加購入を促進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291840"/>
            <a:ext cx="5486400" cy="548640"/>
          </a:xfrm>
          <a:prstGeom prst="roundRect">
            <a:avLst>
              <a:gd name="adj" fmla="val 5000"/>
            </a:avLst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Meiryo"/>
              </a:defRPr>
            </a:pPr>
            <a:r>
              <a:t>② 「フルボトル検討中」 728人（57.9%）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023360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333333"/>
                </a:solidFill>
                <a:latin typeface="Meiryo"/>
              </a:defRPr>
            </a:pPr>
            <a:r>
              <a:t>LINEシナリオでフルボトルLPを配信（アップセル）</a:t>
            </a:r>
          </a:p>
          <a:p>
            <a:pPr algn="l">
              <a:lnSpc>
                <a:spcPts val="1690"/>
              </a:lnSpc>
              <a:spcAft>
                <a:spcPts val="200"/>
              </a:spcAft>
              <a:defRPr sz="1300" b="0">
                <a:solidFill>
                  <a:srgbClr val="E63946"/>
                </a:solidFill>
                <a:latin typeface="Meiryo"/>
              </a:defRPr>
            </a:pPr>
            <a:r>
              <a:t>→ フルボトルLP（?from=sample）</a:t>
            </a:r>
          </a:p>
          <a:p>
            <a:pPr algn="l">
              <a:lnSpc>
                <a:spcPts val="1690"/>
              </a:lnSpc>
              <a:spcAft>
                <a:spcPts val="200"/>
              </a:spcAft>
              <a:defRPr sz="1300" b="0">
                <a:solidFill>
                  <a:srgbClr val="E63946"/>
                </a:solidFill>
                <a:latin typeface="Meiryo"/>
              </a:defRPr>
            </a:pPr>
            <a:r>
              <a:t>→ 自社EC(Stripe)で高利益率の販売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3716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3A7D44"/>
                </a:solidFill>
                <a:latin typeface="Meiryo"/>
              </a:defRPr>
            </a:pPr>
            <a:r>
              <a:t>現在リニューアル中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828800"/>
            <a:ext cx="137160" cy="45720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675120" y="18288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A1A1A"/>
                </a:solidFill>
                <a:latin typeface="Meiryo"/>
              </a:defRPr>
            </a:pPr>
            <a:r>
              <a:t>自社サイト collegrance.com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1031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Meiryo"/>
              </a:defRPr>
            </a:pPr>
            <a:r>
              <a:t>AI診断+フルボトルEC+商品LP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2560320"/>
            <a:ext cx="137160" cy="45720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675120" y="25603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A1A1A"/>
                </a:solidFill>
                <a:latin typeface="Meiryo"/>
              </a:defRPr>
            </a:pPr>
            <a:r>
              <a:t>LINE Harness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8346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Meiryo"/>
              </a:defRPr>
            </a:pPr>
            <a:r>
              <a:t>シナリオ配信+タグベースセグメント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3291840"/>
            <a:ext cx="137160" cy="45720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675120" y="32918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A1A1A"/>
                </a:solidFill>
                <a:latin typeface="Meiryo"/>
              </a:defRPr>
            </a:pPr>
            <a:r>
              <a:t>商品LP動的生成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35661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Meiryo"/>
              </a:defRPr>
            </a:pPr>
            <a:r>
              <a:t>?from=sample / ?from=recommend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4023360"/>
            <a:ext cx="137160" cy="45720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6675120" y="40233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A1A1A"/>
                </a:solidFill>
                <a:latin typeface="Meiryo"/>
              </a:defRPr>
            </a:pPr>
            <a:r>
              <a:t>GA4計測統合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Meiryo"/>
              </a:defRPr>
            </a:pPr>
            <a:r>
              <a:t>全チャネルの行動追跡→購入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303520"/>
            <a:ext cx="10972800" cy="82296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A1A1A"/>
                </a:solidFill>
                <a:latin typeface="Meiryo"/>
              </a:defRPr>
            </a:pPr>
            <a:r>
              <a:t>この2セグメントに対応するため、自社サイト + LINE Harnessをリニューアル中</a:t>
            </a:r>
          </a:p>
          <a:p>
            <a:pPr algn="ctr">
              <a:defRPr sz="1300">
                <a:solidFill>
                  <a:srgbClr val="2E6B38"/>
                </a:solidFill>
                <a:latin typeface="Meiryo"/>
              </a:defRPr>
            </a:pPr>
            <a:r>
              <a:t>「小分けで試す → 気に入ったらフルボトル」の転換率を最大化する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COLLEGRANCE  |  合同会社ヤシノミ  |  Confidential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37160" cy="4572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1A1A1A"/>
                </a:solidFill>
                <a:latin typeface="Meiryo"/>
              </a:defRPr>
            </a:pPr>
            <a:r>
              <a:t>データ計測体制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666666"/>
                </a:solidFill>
                <a:latin typeface="Meiryo"/>
              </a:defRPr>
            </a:pPr>
            <a:r>
              <a:t>GA4で全チャネル統合計測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3A7D44"/>
                </a:solidFill>
                <a:latin typeface="Meiryo"/>
              </a:defRPr>
            </a:pPr>
            <a:r>
              <a:t>計測フロー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2286000" cy="36576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Meiryo"/>
              </a:defRPr>
            </a:pPr>
            <a:r>
              <a:t>SNS (TikTok/Threads/IG)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194560"/>
            <a:ext cx="2286000" cy="36576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Meiryo"/>
              </a:defRPr>
            </a:pPr>
            <a:r>
              <a:t>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651760"/>
            <a:ext cx="2286000" cy="36576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Meiryo"/>
              </a:defRPr>
            </a:pPr>
            <a:r>
              <a:t>Google検索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108960"/>
            <a:ext cx="2286000" cy="36576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Meiryo"/>
              </a:defRPr>
            </a:pPr>
            <a:r>
              <a:t>Amazon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00400" y="2286000"/>
            <a:ext cx="548640" cy="274320"/>
          </a:xfrm>
          <a:prstGeom prst="rightArrow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931920" y="1737360"/>
            <a:ext cx="1828800" cy="164592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eiryo"/>
              </a:defRPr>
            </a:pPr>
            <a:r>
              <a:t>GA4</a:t>
            </a:r>
            <a:br/>
            <a:r>
              <a:t>行動追跡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43600" y="2286000"/>
            <a:ext cx="548640" cy="274320"/>
          </a:xfrm>
          <a:prstGeom prst="rightArrow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675120" y="1737360"/>
            <a:ext cx="1828800" cy="1645920"/>
          </a:xfrm>
          <a:prstGeom prst="roundRect">
            <a:avLst>
              <a:gd name="adj" fmla="val 5000"/>
            </a:avLst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eiryo"/>
              </a:defRPr>
            </a:pPr>
            <a:r>
              <a:t>購入</a:t>
            </a:r>
            <a:br/>
            <a:r>
              <a:t>コンバージョン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8404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3A7D44"/>
                </a:solidFill>
                <a:latin typeface="Meiryo"/>
              </a:defRPr>
            </a:pPr>
            <a:r>
              <a:t>自動レポート（Slack配信）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297680"/>
            <a:ext cx="731520" cy="32004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Meiryo"/>
              </a:defRPr>
            </a:pPr>
            <a:r>
              <a:t>日次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2976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333333"/>
                </a:solidFill>
                <a:latin typeface="Meiryo"/>
              </a:defRPr>
            </a:pPr>
            <a:r>
              <a:t>流入元別セッション、診断/購入数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709160"/>
            <a:ext cx="731520" cy="32004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Meiryo"/>
              </a:defRPr>
            </a:pPr>
            <a:r>
              <a:t>週次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47091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333333"/>
                </a:solidFill>
                <a:latin typeface="Meiryo"/>
              </a:defRPr>
            </a:pPr>
            <a:r>
              <a:t>ファネル分析、前週比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120640"/>
            <a:ext cx="731520" cy="32004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Meiryo"/>
              </a:defRPr>
            </a:pPr>
            <a:r>
              <a:t>月次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51206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333333"/>
                </a:solidFill>
                <a:latin typeface="Meiryo"/>
              </a:defRPr>
            </a:pPr>
            <a:r>
              <a:t>チャネル別ROI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8404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3A7D44"/>
                </a:solidFill>
                <a:latin typeface="Meiryo"/>
              </a:defRPr>
            </a:pPr>
            <a:r>
              <a:t>直近サイト実績（モバイル、30日）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2976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Meiryo"/>
              </a:defRPr>
            </a:pPr>
            <a:r>
              <a:t>セッション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572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1A1A1A"/>
                </a:solidFill>
                <a:latin typeface="Meiryo"/>
              </a:defRPr>
            </a:pPr>
            <a:r>
              <a:t>585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0" y="42976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Meiryo"/>
              </a:defRPr>
            </a:pPr>
            <a:r>
              <a:t>ユーザー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0" y="4572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1A1A1A"/>
                </a:solidFill>
                <a:latin typeface="Meiryo"/>
              </a:defRPr>
            </a:pPr>
            <a:r>
              <a:t>441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06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Meiryo"/>
              </a:defRPr>
            </a:pPr>
            <a:r>
              <a:t>LINE経由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3949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1A1A1A"/>
                </a:solidFill>
                <a:latin typeface="Meiryo"/>
              </a:defRPr>
            </a:pPr>
            <a:r>
              <a:t>70%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1120" y="51206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Meiryo"/>
              </a:defRPr>
            </a:pPr>
            <a:r>
              <a:t>Google検索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53949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1A1A1A"/>
                </a:solidFill>
                <a:latin typeface="Meiryo"/>
              </a:defRPr>
            </a:pPr>
            <a:r>
              <a:t>16%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COLLEGRANCE  |  合同会社ヤシノミ  |  Confidential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37160" cy="4572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1A1A1A"/>
                </a:solidFill>
                <a:latin typeface="Meiryo"/>
              </a:defRPr>
            </a:pPr>
            <a:r>
              <a:t>ロードマップ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3474720" cy="54864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Meiryo"/>
              </a:defRPr>
            </a:pPr>
            <a:r>
              <a:t>2026年4月（現在）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931920" y="1463040"/>
            <a:ext cx="182880" cy="274320"/>
          </a:xfrm>
          <a:prstGeom prst="rightArrow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3A7D44"/>
                </a:solidFill>
                <a:latin typeface="Meiryo"/>
              </a:defRPr>
            </a:pPr>
            <a:r>
              <a:t>✅ Amazon月間3,000〜5,000件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3A7D44"/>
                </a:solidFill>
                <a:latin typeface="Meiryo"/>
              </a:defRPr>
            </a:pPr>
            <a:r>
              <a:t>✅ LINE友だち1,300人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3A7D44"/>
                </a:solidFill>
                <a:latin typeface="Meiryo"/>
              </a:defRPr>
            </a:pPr>
            <a:r>
              <a:t>✅ 自社サイトリニューアル完了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747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3A7D44"/>
                </a:solidFill>
                <a:latin typeface="Meiryo"/>
              </a:defRPr>
            </a:pPr>
            <a:r>
              <a:t>✅ AI香水診断・フルボトルEC稼働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3A7D44"/>
                </a:solidFill>
                <a:latin typeface="Meiryo"/>
              </a:defRPr>
            </a:pPr>
            <a:r>
              <a:t>✅ ブログ60本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3891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3A7D44"/>
                </a:solidFill>
                <a:latin typeface="Meiryo"/>
              </a:defRPr>
            </a:pPr>
            <a:r>
              <a:t>✅ LINE CRMシナリオ設計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0" y="1371600"/>
            <a:ext cx="3474720" cy="54864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Meiryo"/>
              </a:defRPr>
            </a:pPr>
            <a:r>
              <a:t>2026年5〜6月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589520" y="1463040"/>
            <a:ext cx="182880" cy="274320"/>
          </a:xfrm>
          <a:prstGeom prst="rightArrow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21031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333333"/>
                </a:solidFill>
                <a:latin typeface="Meiryo"/>
              </a:defRPr>
            </a:pPr>
            <a:r>
              <a:t>□ Threads/Instagram開始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5603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333333"/>
                </a:solidFill>
                <a:latin typeface="Meiryo"/>
              </a:defRPr>
            </a:pPr>
            <a:r>
              <a:t>□ LINEシナリオ本格配信（クロスセル/アップセル）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0175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333333"/>
                </a:solidFill>
                <a:latin typeface="Meiryo"/>
              </a:defRPr>
            </a:pPr>
            <a:r>
              <a:t>□ ブログ100本到達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4747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333333"/>
                </a:solidFill>
                <a:latin typeface="Meiryo"/>
              </a:defRPr>
            </a:pPr>
            <a:r>
              <a:t>□ ナイトライト製作・販売開始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371600"/>
            <a:ext cx="3474720" cy="548640"/>
          </a:xfrm>
          <a:prstGeom prst="roundRect">
            <a:avLst>
              <a:gd name="adj" fmla="val 5000"/>
            </a:avLst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Meiryo"/>
              </a:defRPr>
            </a:pPr>
            <a:r>
              <a:t>2026年下半期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80" y="21031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333333"/>
                </a:solidFill>
                <a:latin typeface="Meiryo"/>
              </a:defRPr>
            </a:pPr>
            <a:r>
              <a:t>□ LINE友だち3,000人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0" y="25603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333333"/>
                </a:solidFill>
                <a:latin typeface="Meiryo"/>
              </a:defRPr>
            </a:pPr>
            <a:r>
              <a:t>□ フルボトル月間売上目標達成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80" y="30175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333333"/>
                </a:solidFill>
                <a:latin typeface="Meiryo"/>
              </a:defRPr>
            </a:pPr>
            <a:r>
              <a:t>□ SNS流入の本格化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0" y="34747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333333"/>
                </a:solidFill>
                <a:latin typeface="Meiryo"/>
              </a:defRPr>
            </a:pPr>
            <a:r>
              <a:t>□ ナイトライト量産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303520"/>
            <a:ext cx="10972800" cy="82296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E6B38"/>
                </a:solidFill>
                <a:latin typeface="Meiryo"/>
              </a:defRPr>
            </a:pPr>
            <a:r>
              <a:t>ビジョン: 「試す → 気に入る → 買う → 再生する → 広がる」</a:t>
            </a:r>
          </a:p>
          <a:p>
            <a:pPr algn="ctr">
              <a:defRPr sz="1400">
                <a:solidFill>
                  <a:srgbClr val="333333"/>
                </a:solidFill>
                <a:latin typeface="Meiryo"/>
              </a:defRPr>
            </a:pPr>
            <a:r>
              <a:t>香水の全ライフサイクルをビジネスに変える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COLLEGRANCE  |  合同会社ヤシノミ  |  Confidential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