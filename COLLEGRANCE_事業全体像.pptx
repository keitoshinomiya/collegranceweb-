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720"/>
              </a:lnSpc>
              <a:spcAft>
                <a:spcPts val="0"/>
              </a:spcAft>
              <a:defRPr sz="5600" b="1">
                <a:solidFill>
                  <a:srgbClr val="1A1A1A"/>
                </a:solidFill>
                <a:latin typeface="Meiryo"/>
              </a:defRPr>
            </a:pPr>
            <a:r>
              <a:t>COLLEGRANCE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666666"/>
                </a:solidFill>
                <a:latin typeface="Meiryo"/>
              </a:defRPr>
            </a:pPr>
            <a:r>
              <a:t>コレグランス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3A7D44"/>
                </a:solidFill>
                <a:latin typeface="Meiryo"/>
              </a:defRPr>
            </a:pPr>
            <a:r>
              <a:t>事業全体像  2026年4月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206240"/>
            <a:ext cx="2103120" cy="18288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333333"/>
                </a:solidFill>
                <a:latin typeface="Meiryo"/>
              </a:defRPr>
            </a:pPr>
            <a:r>
              <a:t>合同会社ヤシノミ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化粧品製造業・化粧品製造販売業 許可取得済み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事業概要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3A7D44"/>
                </a:solidFill>
                <a:latin typeface="Meiryo"/>
              </a:defRPr>
            </a:pPr>
            <a:r>
              <a:t>「香りはえらべる。もっと自由に。」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高級ブランド香水の小分け（1.5ml）お試し販売 + フルボトル直販</a:t>
            </a:r>
          </a:p>
          <a:p>
            <a:pPr algn="ctr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333333"/>
                </a:solidFill>
                <a:latin typeface="Meiryo"/>
              </a:defRPr>
            </a:pPr>
          </a:p>
          <a:p>
            <a:pPr algn="ctr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333333"/>
                </a:solidFill>
                <a:latin typeface="Meiryo"/>
              </a:defRPr>
            </a:pPr>
            <a:r>
              <a:t>130種類以上のブランド香水を取り扱い</a:t>
            </a:r>
          </a:p>
          <a:p>
            <a:pPr algn="ctr"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Maison Margiela / BYREDO / DIPTYQUE / DIOR / HERMÈS / LE LABO 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広告で集客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TikTok Shop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コンテンツ販売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メルカリShop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販売チャネル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自社EC (Stripe)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フルボトル</a:t>
            </a:r>
            <a:br/>
            <a:r>
              <a:t>高利益の本命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ビジネスモデル全体図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SNS認知 → Amazon購入 → LINE登録 → CRM育成 → フルボトル/クロスセル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011680" cy="11887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SNS認知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TikTok / Threads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Instagram / SEO(60記事)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8960" y="146304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Amazon小分け購入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広告費 100万/月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月間 ~3,000-5,000件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48640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46304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LINE登録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ケースプレゼント施策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登録率 5.3% / 1,300人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41248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61120" y="1463040"/>
            <a:ext cx="2560320" cy="11887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CRM育成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LINE Harness（自社開発）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シナリオ配信+AI診断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18320" y="2834640"/>
            <a:ext cx="274320" cy="45720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10332720" y="2834640"/>
            <a:ext cx="274320" cy="45720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21040" y="34747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フルボトル購入</a:t>
            </a:r>
          </a:p>
          <a:p>
            <a:pPr algn="ctr">
              <a:defRPr sz="900">
                <a:solidFill>
                  <a:srgbClr val="FFCCCC"/>
                </a:solidFill>
                <a:latin typeface="Meiryo"/>
              </a:defRPr>
            </a:pPr>
            <a:r>
              <a:t>自社EC(Stripe) / 高利益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32720" y="3474720"/>
            <a:ext cx="146304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クロスセル</a:t>
            </a:r>
          </a:p>
          <a:p>
            <a:pPr algn="ctr">
              <a:defRPr sz="900">
                <a:solidFill>
                  <a:srgbClr val="AAAAAA"/>
                </a:solidFill>
                <a:latin typeface="Meiryo"/>
              </a:defRPr>
            </a:pPr>
            <a:r>
              <a:t>別の小分け(Amazon)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サステナブルループ（新規事業）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12080"/>
            <a:ext cx="182880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Meiryo"/>
              </a:defRPr>
            </a:pPr>
            <a:r>
              <a:t>空き瓶回収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5212080"/>
            <a:ext cx="182880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Meiryo"/>
              </a:defRPr>
            </a:pPr>
            <a:r>
              <a:t>3Dプリンタ</a:t>
            </a:r>
            <a:br/>
            <a:r>
              <a:t>ナイトライト製作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0" y="5212080"/>
            <a:ext cx="182880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Meiryo"/>
              </a:defRPr>
            </a:pPr>
            <a:r>
              <a:t>TikTok動画</a:t>
            </a:r>
            <a:br/>
            <a:r>
              <a:t>で認知拡大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5212080"/>
            <a:ext cx="182880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Meiryo"/>
              </a:defRPr>
            </a:pPr>
            <a:r>
              <a:t>新規購入者</a:t>
            </a:r>
            <a:br/>
            <a:r>
              <a:t>→ ループ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33172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466344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717804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Amazon販売実績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2025年10月〜2026年4月（推定値含む）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99726"/>
            <a:ext cx="1097280" cy="903793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389680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1,587件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25406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¥1,731,301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10月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3765306"/>
            <a:ext cx="1097280" cy="1538213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148840" y="326238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2,701件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490986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¥2,946,791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11月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2377440"/>
            <a:ext cx="1097280" cy="292608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3566160" y="1874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E63946"/>
                </a:solidFill>
                <a:latin typeface="Meiryo"/>
              </a:defRPr>
            </a:pPr>
            <a:r>
              <a:t>5,138件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1031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¥5,605,558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12月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3270412"/>
            <a:ext cx="1097280" cy="2033107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4983480" y="27674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3,570件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9960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¥3,894,870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1月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710596"/>
            <a:ext cx="1097280" cy="2592923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0" y="22076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4,553件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36276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¥4,967,323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2月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18120" y="2743057"/>
            <a:ext cx="1097280" cy="2560462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7818120" y="224013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4,496件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2468737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¥4,905,136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3月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35440" y="4324553"/>
            <a:ext cx="1097280" cy="978966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235440" y="382163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1,719件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050233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¥1,875,429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4月*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137160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666666"/>
                </a:solidFill>
                <a:latin typeface="Meiryo"/>
              </a:defRPr>
            </a:pPr>
            <a:r>
              <a:t>累計</a:t>
            </a:r>
          </a:p>
          <a:p>
            <a:pPr algn="l">
              <a:lnSpc>
                <a:spcPts val="4680"/>
              </a:lnSpc>
              <a:spcAft>
                <a:spcPts val="200"/>
              </a:spcAft>
              <a:defRPr sz="3600" b="1">
                <a:solidFill>
                  <a:srgbClr val="E63946"/>
                </a:solidFill>
                <a:latin typeface="Meiryo"/>
              </a:defRPr>
            </a:pPr>
            <a:r>
              <a:t>23,764 件</a:t>
            </a:r>
          </a:p>
          <a:p>
            <a:pPr algn="l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</a:p>
          <a:p>
            <a:pPr algn="l"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666666"/>
                </a:solidFill>
                <a:latin typeface="Meiryo"/>
              </a:defRPr>
            </a:pPr>
            <a:r>
              <a:t>累計売上（推定）</a:t>
            </a:r>
          </a:p>
          <a:p>
            <a:pPr algn="l">
              <a:lnSpc>
                <a:spcPts val="3900"/>
              </a:lnSpc>
              <a:spcAft>
                <a:spcPts val="200"/>
              </a:spcAft>
              <a:defRPr sz="3000" b="1">
                <a:solidFill>
                  <a:srgbClr val="1A1A1A"/>
                </a:solidFill>
                <a:latin typeface="Meiryo"/>
              </a:defRPr>
            </a:pPr>
            <a:r>
              <a:t>¥25,926,524</a:t>
            </a:r>
          </a:p>
          <a:p>
            <a:pPr algn="l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</a:p>
          <a:p>
            <a:pPr algn="l"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平均単価</a:t>
            </a:r>
          </a:p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¥1,091</a:t>
            </a:r>
          </a:p>
          <a:p>
            <a:pPr algn="l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</a:p>
          <a:p>
            <a:pPr algn="l"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広告費</a:t>
            </a:r>
          </a:p>
          <a:p>
            <a:pPr algn="l"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3A7D44"/>
                </a:solidFill>
                <a:latin typeface="Meiryo"/>
              </a:defRPr>
            </a:pPr>
            <a:r>
              <a:t>月間 約100万円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60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※ 10月実測値をベースにアンケート回答率から推定。4月は4/15まで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アンケートファネル分析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Amazon購入者 → LINE登録 → クロスセル/アップセル対象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-457200" y="1371600"/>
            <a:ext cx="9144000" cy="8229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Amazon購入者（推定）    23,764人    (100%)</a:t>
            </a:r>
          </a:p>
        </p:txBody>
      </p:sp>
      <p:sp>
        <p:nvSpPr>
          <p:cNvPr id="6" name="Down Arrow 5"/>
          <p:cNvSpPr/>
          <p:nvPr/>
        </p:nvSpPr>
        <p:spPr>
          <a:xfrm>
            <a:off x="3977640" y="219456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7315200" cy="8229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LINE登録（アンケート回答）    1,258人    (登録率 5.3%)</a:t>
            </a:r>
          </a:p>
        </p:txBody>
      </p:sp>
      <p:sp>
        <p:nvSpPr>
          <p:cNvPr id="8" name="Down Arrow 7"/>
          <p:cNvSpPr/>
          <p:nvPr/>
        </p:nvSpPr>
        <p:spPr>
          <a:xfrm>
            <a:off x="3977640" y="329184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43000" y="3566160"/>
            <a:ext cx="5943600" cy="82296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「他にも試したい」    1,087人    (86.4%)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977640" y="438912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4572000" cy="82296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「フルボトル検討中」    728人    (57.9%)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356616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クロスセル対象</a:t>
            </a:r>
            <a:br/>
            <a:r>
              <a:t>1,087人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466344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アップセル対象</a:t>
            </a:r>
            <a:br/>
            <a:r>
              <a:t>728人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692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E63946"/>
                </a:solidFill>
                <a:latin typeface="Meiryo"/>
              </a:defRPr>
            </a:pPr>
            <a:r>
              <a:t>★ 728人がフルボトル購入を検討中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→ LINE配信で購入に誘導する仕組みを構築中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顧客属性（アンケートデータ）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回答者: 1,258人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性別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00400" cy="4114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男性 70%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1737360"/>
            <a:ext cx="1325880" cy="41148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女性 29%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37360"/>
            <a:ext cx="45720" cy="41148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その他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年齢分布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50代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70632"/>
            <a:ext cx="3657600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9067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40代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3118104"/>
            <a:ext cx="2926080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381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30代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3465576"/>
            <a:ext cx="2779776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8561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20代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813048"/>
            <a:ext cx="2633472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330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60代〜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160520"/>
            <a:ext cx="1755648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805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10代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54480" y="4507992"/>
            <a:ext cx="877824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満足度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1737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E63946"/>
                </a:solidFill>
                <a:latin typeface="Meiryo"/>
              </a:defRPr>
            </a:pPr>
            <a:r>
              <a:t>★4以上: 88.9%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468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496312"/>
            <a:ext cx="3168396" cy="2286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59.4%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2788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2816352"/>
            <a:ext cx="157353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29.5%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108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3136392"/>
            <a:ext cx="506730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4290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3456432"/>
            <a:ext cx="58674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1.1%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7490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3776472"/>
            <a:ext cx="26670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0.5%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389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香水を知ったきっかけ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754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YouTube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4782312"/>
            <a:ext cx="265176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50474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Amazon・楽天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0" y="5074920"/>
            <a:ext cx="237744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34009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SNS(IG/TikTok)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5367528"/>
            <a:ext cx="201168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6327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友人・知人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5660136"/>
            <a:ext cx="109728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12%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9253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雑誌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0" y="5952744"/>
            <a:ext cx="54864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6217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その他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0" y="6245352"/>
            <a:ext cx="45720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846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人気商品TOP3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212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1位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5212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5212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42.1%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5321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2位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532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0" y="55321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20.6%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58521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3位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8016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商品039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5852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7.8%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販売チャネル一覧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3657600"/>
                <a:gridCol w="2286000"/>
              </a:tblGrid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チャネル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商品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状態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集客+販売（広告費100万/月）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 Shop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コンテンツ → 販売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メルカリShop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販売チャネル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自社EC (Stripe)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フルボトル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高利益の本命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稼働中（リニューアル完了）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自社EC (予定)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ナイトライト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サステナブル商品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チャネル戦略の考え方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  <a:br/>
            <a:r>
              <a:t>集客エンジン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3192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TikTok / メルカリ</a:t>
            </a:r>
            <a:br/>
            <a:r>
              <a:t>サブチャネル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58952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自社EC</a:t>
            </a:r>
            <a:br/>
            <a:r>
              <a:t>マネタイズ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LINE CRM設計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LINE Harness（自社開発CRM/MA）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シナリオ配信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3736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ウェルカム + 購入商品タグ付け</a:t>
            </a:r>
          </a:p>
        </p:txBody>
      </p:sp>
      <p:sp>
        <p:nvSpPr>
          <p:cNvPr id="8" name="Down Arrow 7"/>
          <p:cNvSpPr/>
          <p:nvPr/>
        </p:nvSpPr>
        <p:spPr>
          <a:xfrm>
            <a:off x="1051560" y="224028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4320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「香りはいかがですか？」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051560" y="324612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490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フルボトルLP配信</a:t>
            </a:r>
            <a:br/>
            <a:r>
              <a:t>collegrance.com/?from=sample&amp;product={ID}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1560" y="425196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75488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7548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AI香水診断誘導</a:t>
            </a:r>
            <a:br/>
            <a:r>
              <a:t>collegrance.com/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アンケート → レコメンド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73736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アンケート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7373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「次に試したい香りは？」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7178040" y="224028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92608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タグ付け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26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回答に基づき興味タグ付与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7178040" y="342900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0" y="411480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レコメンド配信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小分けおすすめLP</a:t>
            </a:r>
            <a:br/>
            <a:r>
              <a:t>?from=recommend&amp;product={ID}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303520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ポイント: 商品IDに応じてURLを動的生成し、パーソナライズ配信を実現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自社サイト + SNS戦略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collegrance.com（リニューアル完了）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AI香水診断（Claude AI）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フルボトルEC（130種類、Stripe決済）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ブログ60本（SEO、100本目標）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05840" y="2834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商品LP（LINE配信のリンク先）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05840" y="3200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GA4 eコマーストラッキング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SNS戦略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0" y="173736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チャネル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担当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状態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みのべさん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稼働中（毎日1本）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Threads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keito（中の人）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Instagram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keito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31520" y="4114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新施策: ナイトライト事業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フルボトル</a:t>
            </a:r>
            <a:br/>
            <a:r>
              <a:t>空き瓶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42316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2608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3Dプリンタ</a:t>
            </a:r>
            <a:br/>
            <a:r>
              <a:t>で加工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61772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2064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ナイトライト</a:t>
            </a:r>
            <a:br/>
            <a:r>
              <a:t>完成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1228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TikTok動画</a:t>
            </a:r>
            <a:br/>
            <a:r>
              <a:t>で拡散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0684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0976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販売</a:t>
            </a:r>
            <a:br/>
            <a:r>
              <a:t>(各チャネル)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3A7D44"/>
                </a:solidFill>
                <a:latin typeface="Meiryo"/>
              </a:defRPr>
            </a:pPr>
            <a:r>
              <a:t>香水の「試す → 使う → 残る → 再生 → 広がる」全ライフサイクルをビジネス化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現在の戦略（これからやること）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アンケートで判明した2つの巨大セグメント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54864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① 「他にも試したい」 1,087人（86.4%）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333333"/>
                </a:solidFill>
                <a:latin typeface="Meiryo"/>
              </a:defRPr>
            </a:pPr>
            <a:r>
              <a:t>LINEシナリオで別の小分けをレコメンド（クロスセル）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A7D44"/>
                </a:solidFill>
                <a:latin typeface="Meiryo"/>
              </a:defRPr>
            </a:pPr>
            <a:r>
              <a:t>→ 小分けおすすめLP（?from=recommend）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A7D44"/>
                </a:solidFill>
                <a:latin typeface="Meiryo"/>
              </a:defRPr>
            </a:pPr>
            <a:r>
              <a:t>→ Amazonで追加購入を促進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91840"/>
            <a:ext cx="5486400" cy="54864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② 「フルボトル検討中」 728人（57.9%）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333333"/>
                </a:solidFill>
                <a:latin typeface="Meiryo"/>
              </a:defRPr>
            </a:pPr>
            <a:r>
              <a:t>LINEシナリオでフルボトルLPを配信（アップセル）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E63946"/>
                </a:solidFill>
                <a:latin typeface="Meiryo"/>
              </a:defRPr>
            </a:pPr>
            <a:r>
              <a:t>→ フルボトルLP（?from=sample）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E63946"/>
                </a:solidFill>
                <a:latin typeface="Meiryo"/>
              </a:defRPr>
            </a:pPr>
            <a:r>
              <a:t>→ 自社EC(Stripe)で高利益率の販売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現在リニューアル中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67512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自社サイト collegrance.com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AI診断+フルボトルEC+商品LP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56032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LINE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34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シナリオ配信+タグベースセグメント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9184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67512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商品LP動的生成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?from=sample / ?from=recommend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02336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GA4計測統合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全チャネルの行動追跡→購入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03520"/>
            <a:ext cx="10972800" cy="8229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この2セグメントに対応するため、自社サイト + LINE Harnessをリニューアル中</a:t>
            </a:r>
          </a:p>
          <a:p>
            <a:pPr algn="ctr">
              <a:defRPr sz="1300">
                <a:solidFill>
                  <a:srgbClr val="2E6B38"/>
                </a:solidFill>
                <a:latin typeface="Meiryo"/>
              </a:defRPr>
            </a:pPr>
            <a:r>
              <a:t>「小分けで試す → 気に入ったらフルボトル」の転換率を最大化する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データ計測体制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GA4で全チャネル統合計測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計測フロー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286000" cy="3657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SNS (TikTok/Threads/IG)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2286000" cy="3657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2286000" cy="3657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Google検索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2286000" cy="3657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2286000"/>
            <a:ext cx="54864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31920" y="1737360"/>
            <a:ext cx="1828800" cy="16459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GA4</a:t>
            </a:r>
            <a:br/>
            <a:r>
              <a:t>行動追跡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286000"/>
            <a:ext cx="54864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0" y="1737360"/>
            <a:ext cx="1828800" cy="164592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購入</a:t>
            </a:r>
            <a:br/>
            <a:r>
              <a:t>コンバージョン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自動レポート（Slack配信）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80"/>
            <a:ext cx="731520" cy="32004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日次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297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流入元別セッション、診断/購入数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709160"/>
            <a:ext cx="731520" cy="32004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週次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709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ファネル分析、前週比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731520" cy="32004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月次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120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チャネル別ROI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直近サイト実績（モバイル、30日）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297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セッション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585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4297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ユーザー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441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0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LINE経由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70%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5120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Google検索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16%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ロードマップ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2026年4月（現在）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931920" y="1463040"/>
            <a:ext cx="18288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Amazon月間3,000〜5,000件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LINE友だち1,300人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自社サイトリニューアル完了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AI香水診断・フルボトルEC稼働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ブログ60本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LINE CRMシナリオ設計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37160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2026年5〜6月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89520" y="1463040"/>
            <a:ext cx="182880" cy="274320"/>
          </a:xfrm>
          <a:prstGeom prst="rightArrow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Threads/Instagram開始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LINEシナリオ本格配信（クロスセル/アップセル）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ブログ100本到達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ナイトライト製作・販売開始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37160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2026年下半期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LINE友だち3,000人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フルボトル月間売上目標達成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SNS流入の本格化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ナイトライト量産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03520"/>
            <a:ext cx="10972800" cy="8229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E6B38"/>
                </a:solidFill>
                <a:latin typeface="Meiryo"/>
              </a:defRPr>
            </a:pPr>
            <a:r>
              <a:t>ビジョン: 「試す → 気に入る → 買う → 再生する → 広がる」</a:t>
            </a:r>
          </a:p>
          <a:p>
            <a:pPr algn="ctr">
              <a:defRPr sz="1400">
                <a:solidFill>
                  <a:srgbClr val="333333"/>
                </a:solidFill>
                <a:latin typeface="Meiryo"/>
              </a:defRPr>
            </a:pPr>
            <a:r>
              <a:t>香水の全ライフサイクルをビジネスに変える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