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07" d="100"/>
          <a:sy n="107" d="100"/>
        </p:scale>
        <p:origin x="480" y="4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720"/>
              </a:lnSpc>
              <a:spcAft>
                <a:spcPts val="0"/>
              </a:spcAft>
              <a:defRPr sz="5600" b="1">
                <a:solidFill>
                  <a:srgbClr val="1A1A1A"/>
                </a:solidFill>
                <a:latin typeface="Meiryo"/>
              </a:defRPr>
            </a:pPr>
            <a:r>
              <a:t>COLLEGRANCE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666666"/>
                </a:solidFill>
                <a:latin typeface="Meiryo"/>
              </a:defRPr>
            </a:pPr>
            <a:r>
              <a:t>コレグランス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3A7D44"/>
                </a:solidFill>
                <a:latin typeface="Meiryo"/>
              </a:defRPr>
            </a:pPr>
            <a:r>
              <a:t>事業計画書  2026年4月〜2027年1月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206240"/>
            <a:ext cx="2103120" cy="18288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333333"/>
                </a:solidFill>
                <a:latin typeface="Meiryo"/>
              </a:defRPr>
            </a:pPr>
            <a:r>
              <a:t>合同会社ヤシノミ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66666"/>
                </a:solidFill>
                <a:latin typeface="Meiryo"/>
              </a:defRPr>
            </a:pPr>
            <a:r>
              <a:t>化粧品製造業・化粧品製造販売業 許可取得済み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事業概要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3A7D44"/>
                </a:solidFill>
                <a:latin typeface="Meiryo"/>
              </a:defRPr>
            </a:pPr>
            <a:r>
              <a:t>「香りはえらべる。もっと自由に。」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Meiryo"/>
              </a:defRPr>
            </a:pPr>
            <a:r>
              <a:t>高級ブランド香水の小分け（1.5ml）お試し販売 + フルボトル直販</a:t>
            </a:r>
          </a:p>
          <a:p>
            <a:pPr algn="ctr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endParaRPr/>
          </a:p>
          <a:p>
            <a:pPr algn="ctr"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333333"/>
                </a:solidFill>
                <a:latin typeface="Meiryo"/>
              </a:defRPr>
            </a:pPr>
            <a:r>
              <a:t>130種類以上のブランド香水を取り扱い</a:t>
            </a:r>
          </a:p>
          <a:p>
            <a:pPr algn="ctr"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666666"/>
                </a:solidFill>
                <a:latin typeface="Meiryo"/>
              </a:defRPr>
            </a:pPr>
            <a:r>
              <a:t>Maison Margiela / BYREDO / DIPTYQUE / DIOR / HERMES / LE LABO 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657600"/>
            <a:ext cx="2286000" cy="14630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eiryo"/>
              </a:defRPr>
            </a:pPr>
            <a:r>
              <a:t>Amazon</a:t>
            </a:r>
          </a:p>
          <a:p>
            <a:pPr>
              <a:defRPr sz="600"/>
            </a:pPr>
            <a:endParaRPr/>
          </a:p>
          <a:p>
            <a:pPr algn="ctr">
              <a:lnSpc>
                <a:spcPts val="1600"/>
              </a:lnSpc>
              <a:defRPr sz="1100">
                <a:solidFill>
                  <a:srgbClr val="CCCCCC"/>
                </a:solidFill>
                <a:latin typeface="Meiryo"/>
              </a:defRPr>
            </a:pPr>
            <a:r>
              <a:t>小分け+ケース</a:t>
            </a:r>
            <a:br/>
            <a:r>
              <a:t>広告で集客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40" y="3657600"/>
            <a:ext cx="2286000" cy="14630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eiryo"/>
              </a:defRPr>
            </a:pPr>
            <a:r>
              <a:t>TikTok Shop</a:t>
            </a:r>
          </a:p>
          <a:p>
            <a:pPr>
              <a:defRPr sz="600"/>
            </a:pPr>
            <a:endParaRPr/>
          </a:p>
          <a:p>
            <a:pPr algn="ctr">
              <a:lnSpc>
                <a:spcPts val="1600"/>
              </a:lnSpc>
              <a:defRPr sz="1100">
                <a:solidFill>
                  <a:srgbClr val="CCCCCC"/>
                </a:solidFill>
                <a:latin typeface="Meiryo"/>
              </a:defRPr>
            </a:pPr>
            <a:r>
              <a:t>小分け+ケース</a:t>
            </a:r>
            <a:br/>
            <a:r>
              <a:t>コンテンツ販売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657600"/>
            <a:ext cx="2286000" cy="14630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eiryo"/>
              </a:defRPr>
            </a:pPr>
            <a:r>
              <a:t>メルカリShop</a:t>
            </a:r>
          </a:p>
          <a:p>
            <a:pPr>
              <a:defRPr sz="600"/>
            </a:pPr>
            <a:endParaRPr/>
          </a:p>
          <a:p>
            <a:pPr algn="ctr">
              <a:lnSpc>
                <a:spcPts val="1600"/>
              </a:lnSpc>
              <a:defRPr sz="1100">
                <a:solidFill>
                  <a:srgbClr val="CCCCCC"/>
                </a:solidFill>
                <a:latin typeface="Meiryo"/>
              </a:defRPr>
            </a:pPr>
            <a:r>
              <a:t>小分け+ケース</a:t>
            </a:r>
            <a:br/>
            <a:r>
              <a:t>販売チャネル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3657600"/>
            <a:ext cx="2286000" cy="146304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eiryo"/>
              </a:defRPr>
            </a:pPr>
            <a:r>
              <a:t>自社EC (Stripe)</a:t>
            </a:r>
          </a:p>
          <a:p>
            <a:pPr>
              <a:defRPr sz="600"/>
            </a:pPr>
            <a:endParaRPr/>
          </a:p>
          <a:p>
            <a:pPr algn="ctr">
              <a:lnSpc>
                <a:spcPts val="1600"/>
              </a:lnSpc>
              <a:defRPr sz="1100">
                <a:solidFill>
                  <a:srgbClr val="CCCCCC"/>
                </a:solidFill>
                <a:latin typeface="Meiryo"/>
              </a:defRPr>
            </a:pPr>
            <a:r>
              <a:t>フルボトル</a:t>
            </a:r>
            <a:br/>
            <a:r>
              <a:t>高利益の本命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94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運営体制: 代表(四宮) + パート1名(みのべさん) + 11月〜(守殿さん復帰)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ビジネスモデル全体図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SNS認知 → Amazon購入 → LINE登録 → CRM育成 → フルボトル/クロスセル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2011680" cy="118872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SNS認知</a:t>
            </a:r>
          </a:p>
          <a:p>
            <a:pPr algn="ctr">
              <a:defRPr sz="1000">
                <a:solidFill>
                  <a:srgbClr val="AAAAAA"/>
                </a:solidFill>
                <a:latin typeface="Meiryo"/>
              </a:defRPr>
            </a:pPr>
            <a:r>
              <a:t>TikTok / Threads</a:t>
            </a:r>
          </a:p>
          <a:p>
            <a:pPr algn="ctr">
              <a:defRPr sz="1000">
                <a:solidFill>
                  <a:srgbClr val="AAAAAA"/>
                </a:solidFill>
                <a:latin typeface="Meiryo"/>
              </a:defRPr>
            </a:pPr>
            <a:r>
              <a:t>Instagram / SEO(60記事)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788920"/>
            <a:ext cx="1005840" cy="594360"/>
          </a:xfrm>
          <a:prstGeom prst="roundRect">
            <a:avLst/>
          </a:prstGeom>
          <a:noFill/>
          <a:ln w="12700">
            <a:solidFill>
              <a:srgbClr val="666666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66666"/>
                </a:solidFill>
                <a:latin typeface="Meiryo"/>
              </a:defRPr>
            </a:pPr>
            <a:r>
              <a:t>Instagram</a:t>
            </a:r>
          </a:p>
          <a:p>
            <a:pPr algn="ctr">
              <a:defRPr sz="700">
                <a:solidFill>
                  <a:srgbClr val="999999"/>
                </a:solidFill>
                <a:latin typeface="Meiryo"/>
              </a:defRPr>
            </a:pPr>
            <a:r>
              <a:t>世界観構築→AI診断誘導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08760" y="2788920"/>
            <a:ext cx="1005840" cy="594360"/>
          </a:xfrm>
          <a:prstGeom prst="roundRect">
            <a:avLst/>
          </a:prstGeom>
          <a:noFill/>
          <a:ln w="12700">
            <a:solidFill>
              <a:srgbClr val="666666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66666"/>
                </a:solidFill>
                <a:latin typeface="Meiryo"/>
              </a:defRPr>
            </a:pPr>
            <a:r>
              <a:t>Threads</a:t>
            </a:r>
          </a:p>
          <a:p>
            <a:pPr algn="ctr">
              <a:defRPr sz="700">
                <a:solidFill>
                  <a:srgbClr val="999999"/>
                </a:solidFill>
                <a:latin typeface="Meiryo"/>
              </a:defRPr>
            </a:pPr>
            <a:r>
              <a:t>中の人投稿→認知拡大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1071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840"/>
              </a:lnSpc>
              <a:spcAft>
                <a:spcPts val="0"/>
              </a:spcAft>
              <a:defRPr sz="700" b="0">
                <a:solidFill>
                  <a:srgbClr val="999999"/>
                </a:solidFill>
                <a:latin typeface="Meiryo"/>
              </a:defRPr>
            </a:pPr>
            <a:r>
              <a:t>※ 今後追加予定（集客チャネル）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60320" y="1920240"/>
            <a:ext cx="457200" cy="27432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108960" y="1463040"/>
            <a:ext cx="2286000" cy="11887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Amazon小分け購入</a:t>
            </a:r>
          </a:p>
          <a:p>
            <a:pPr algn="ctr">
              <a:defRPr sz="1000">
                <a:solidFill>
                  <a:srgbClr val="DDFFDD"/>
                </a:solidFill>
                <a:latin typeface="Meiryo"/>
              </a:defRPr>
            </a:pPr>
            <a:r>
              <a:t>広告費 ~75万/月</a:t>
            </a:r>
          </a:p>
          <a:p>
            <a:pPr algn="ctr">
              <a:defRPr sz="1000">
                <a:solidFill>
                  <a:srgbClr val="DDFFDD"/>
                </a:solidFill>
                <a:latin typeface="Meiryo"/>
              </a:defRPr>
            </a:pPr>
            <a:r>
              <a:t>月間 ~3,500件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486400" y="1920240"/>
            <a:ext cx="457200" cy="27432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035040" y="1463040"/>
            <a:ext cx="2286000" cy="118872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LINE登録</a:t>
            </a:r>
          </a:p>
          <a:p>
            <a:pPr algn="ctr">
              <a:defRPr sz="1000">
                <a:solidFill>
                  <a:srgbClr val="DDFFDD"/>
                </a:solidFill>
                <a:latin typeface="Meiryo"/>
              </a:defRPr>
            </a:pPr>
            <a:r>
              <a:t>ケースプレゼント施策</a:t>
            </a:r>
          </a:p>
          <a:p>
            <a:pPr algn="ctr">
              <a:defRPr sz="1000">
                <a:solidFill>
                  <a:srgbClr val="DDFFDD"/>
                </a:solidFill>
                <a:latin typeface="Meiryo"/>
              </a:defRPr>
            </a:pPr>
            <a:r>
              <a:t>登録率 5.3% / 1,300人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412480" y="1920240"/>
            <a:ext cx="457200" cy="27432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961120" y="1463040"/>
            <a:ext cx="2560320" cy="118872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CRM育成</a:t>
            </a:r>
          </a:p>
          <a:p>
            <a:pPr algn="ctr">
              <a:defRPr sz="1000">
                <a:solidFill>
                  <a:srgbClr val="AAAAAA"/>
                </a:solidFill>
                <a:latin typeface="Meiryo"/>
              </a:defRPr>
            </a:pPr>
            <a:r>
              <a:t>LINE Harness（自社開発）</a:t>
            </a:r>
          </a:p>
          <a:p>
            <a:pPr algn="ctr">
              <a:defRPr sz="1000">
                <a:solidFill>
                  <a:srgbClr val="AAAAAA"/>
                </a:solidFill>
                <a:latin typeface="Meiryo"/>
              </a:defRPr>
            </a:pPr>
            <a:r>
              <a:t>シナリオ配信+AI診断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9418320" y="2834640"/>
            <a:ext cx="274320" cy="457200"/>
          </a:xfrm>
          <a:prstGeom prst="down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Down Arrow 15"/>
          <p:cNvSpPr/>
          <p:nvPr/>
        </p:nvSpPr>
        <p:spPr>
          <a:xfrm>
            <a:off x="10332720" y="2834640"/>
            <a:ext cx="274320" cy="457200"/>
          </a:xfrm>
          <a:prstGeom prst="down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321040" y="3474720"/>
            <a:ext cx="1828800" cy="9144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フルボトル購入</a:t>
            </a:r>
          </a:p>
          <a:p>
            <a:pPr algn="ctr">
              <a:defRPr sz="900">
                <a:solidFill>
                  <a:srgbClr val="FFCCCC"/>
                </a:solidFill>
                <a:latin typeface="Meiryo"/>
              </a:defRPr>
            </a:pPr>
            <a:r>
              <a:t>自社EC(Stripe) / 高利益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32720" y="3474720"/>
            <a:ext cx="1463040" cy="9144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クロスセル</a:t>
            </a:r>
          </a:p>
          <a:p>
            <a:pPr algn="ctr">
              <a:defRPr sz="900">
                <a:solidFill>
                  <a:srgbClr val="AAAAAA"/>
                </a:solidFill>
                <a:latin typeface="Meiryo"/>
              </a:defRPr>
            </a:pPr>
            <a:r>
              <a:t>別の小分け(Amazon)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サステナブルループ（ナイトライト事業）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5029200"/>
            <a:ext cx="1828800" cy="6400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Meiryo"/>
              </a:defRPr>
            </a:pPr>
            <a:r>
              <a:t>① 小分け製造の空き瓶</a:t>
            </a:r>
            <a:br/>
            <a:r>
              <a:t>（自社ラボ発生）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5806440"/>
            <a:ext cx="1828800" cy="6400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Meiryo"/>
              </a:defRPr>
            </a:pPr>
            <a:r>
              <a:t>② お客様のボトル返送</a:t>
            </a:r>
            <a:br/>
            <a:r>
              <a:t>（¥1,000引きで加工）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286000" y="5532120"/>
            <a:ext cx="36576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743200" y="521208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FFFFFF"/>
                </a:solidFill>
                <a:latin typeface="Meiryo"/>
              </a:defRPr>
            </a:pPr>
            <a:r>
              <a:t>3Dプリンタ</a:t>
            </a:r>
            <a:br/>
            <a:r>
              <a:t>ナイトライト製作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663440" y="5440680"/>
            <a:ext cx="36576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120640" y="5029200"/>
            <a:ext cx="1828800" cy="64008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TikTok Shop / 自社EC</a:t>
            </a:r>
            <a:br/>
            <a:r>
              <a:t>メルカリShopで販売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20640" y="5806440"/>
            <a:ext cx="1828800" cy="64008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製作動画をTikTok投稿</a:t>
            </a:r>
            <a:br/>
            <a:r>
              <a:t>サステナブル×おしゃれ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040880" y="5532120"/>
            <a:ext cx="36576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498079" y="5074920"/>
            <a:ext cx="2011680" cy="54864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2E6B38"/>
                </a:solidFill>
                <a:latin typeface="Meiryo"/>
              </a:defRPr>
            </a:pPr>
            <a:r>
              <a:t>新規認知→小分け購入→ループ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98079" y="5715000"/>
            <a:ext cx="2011680" cy="64008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Meiryo"/>
              </a:defRPr>
            </a:pPr>
            <a:r>
              <a:t>ボトル返送→¥1,000引き加工</a:t>
            </a:r>
            <a:br/>
            <a:r>
              <a:t>→フルボトル購入動機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8961120" y="4480560"/>
            <a:ext cx="274320" cy="274320"/>
          </a:xfrm>
          <a:prstGeom prst="down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ビジネスの方程式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全体像を1つの式で理解する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3A7D44"/>
                </a:solidFill>
                <a:latin typeface="Meiryo"/>
              </a:defRPr>
            </a:pPr>
            <a:r>
              <a:t>STEP 1: 全体の利益方程式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515600" cy="548640"/>
          </a:xfrm>
          <a:prstGeom prst="roundRect">
            <a:avLst>
              <a:gd name="adj" fmla="val 5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A1A1A"/>
                </a:solidFill>
                <a:latin typeface="Meiryo"/>
              </a:defRPr>
            </a:pPr>
            <a:r>
              <a:t>総利益 = 直接販売利益 + LINE経由利益 - 固定費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77440"/>
            <a:ext cx="5029200" cy="4572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eiryo"/>
              </a:defRPr>
            </a:pPr>
            <a:r>
              <a:t>直接販売利益 = 各チャネル注文数 x チャネル別粗利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2377440"/>
            <a:ext cx="5303520" cy="45720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eiryo"/>
              </a:defRPr>
            </a:pPr>
            <a:r>
              <a:t>LINE経由利益 = 全注文 x くじ参加率 x LTV x LINE利益率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926080"/>
            <a:ext cx="5303520" cy="36576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2E6B38"/>
                </a:solidFill>
                <a:latin typeface="Meiryo"/>
              </a:defRPr>
            </a:pPr>
            <a:r>
              <a:t>LINE経由は広告費ゼロ・モール手数料ゼロ → 利益率が2〜3倍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66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3A7D44"/>
                </a:solidFill>
                <a:latin typeface="Meiryo"/>
              </a:defRPr>
            </a:pPr>
            <a:r>
              <a:t>STEP 2: 展開すると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3200400" cy="41148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Amazon: ¥554/個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805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注文 x ¥554 - 広告費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4023360"/>
            <a:ext cx="3200400" cy="411480"/>
          </a:xfrm>
          <a:prstGeom prst="roundRect">
            <a:avLst>
              <a:gd name="adj" fmla="val 5000"/>
            </a:avLst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TikTok: ¥360/個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44805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注文 x ¥360（広告費ほぼゼロ）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4023360"/>
            <a:ext cx="3200400" cy="411480"/>
          </a:xfrm>
          <a:prstGeom prst="roundRect">
            <a:avLst>
              <a:gd name="adj" fmla="val 5000"/>
            </a:avLst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メルカリ: ¥315/個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4805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注文 x ¥315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46320"/>
            <a:ext cx="6400800" cy="4572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LINE経由: 全注文 x くじ参加率 x ¥1,670 x 45%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4846320"/>
            <a:ext cx="3931920" cy="45720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ナイトライト: ¥3,180/個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4406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E63946"/>
                </a:solidFill>
                <a:latin typeface="Meiryo"/>
              </a:defRPr>
            </a:pPr>
            <a:r>
              <a:t>- 固定費（パート人件費 月16万円 + その他）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760720"/>
            <a:ext cx="10515600" cy="45720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E6B38"/>
                </a:solidFill>
                <a:latin typeface="Meiryo"/>
              </a:defRPr>
            </a:pPr>
            <a:r>
              <a:t>ポイント: 直接販売で稼ぎつつ、LINE経由で「広告費ゼロの高利益」を積み上げる二重構造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利益を最大化する3つのマスター変数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なぜこの3つなのか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10515600" cy="457200"/>
          </a:xfrm>
          <a:prstGeom prst="roundRect">
            <a:avLst>
              <a:gd name="adj" fmla="val 5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A1A1A"/>
                </a:solidFill>
                <a:latin typeface="Meiryo"/>
              </a:defRPr>
            </a:pPr>
            <a:r>
              <a:t>利益 ∝ レビュー数 x くじ参加率 x オーガニックリーチ</a:t>
            </a:r>
          </a:p>
        </p:txBody>
      </p:sp>
      <p:sp>
        <p:nvSpPr>
          <p:cNvPr id="6" name="Oval 5"/>
          <p:cNvSpPr/>
          <p:nvPr/>
        </p:nvSpPr>
        <p:spPr>
          <a:xfrm>
            <a:off x="1280160" y="1920240"/>
            <a:ext cx="2011680" cy="2011680"/>
          </a:xfrm>
          <a:prstGeom prst="ellipse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レビュー数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23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3A7D44"/>
                </a:solidFill>
                <a:latin typeface="Meiryo"/>
              </a:defRPr>
            </a:pPr>
            <a:r>
              <a:t>全チャネルのCVRに効く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4340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レビュー↑ → Amazon CVR↑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9943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+ TikTok CVR↑ + メルカリ CVR↑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5546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→ 直接利益もLINE経由利益も両方増える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1149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→ 最も「広く」効く変数</a:t>
            </a:r>
          </a:p>
        </p:txBody>
      </p:sp>
      <p:sp>
        <p:nvSpPr>
          <p:cNvPr id="12" name="Oval 11"/>
          <p:cNvSpPr/>
          <p:nvPr/>
        </p:nvSpPr>
        <p:spPr>
          <a:xfrm>
            <a:off x="5120640" y="1920240"/>
            <a:ext cx="2011680" cy="2011680"/>
          </a:xfrm>
          <a:prstGeom prst="ellipse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くじ参加率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4023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E63946"/>
                </a:solidFill>
                <a:latin typeface="Meiryo"/>
              </a:defRPr>
            </a:pPr>
            <a:r>
              <a:t>注文を「資産」に変える変換率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434340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5% → 20% で下流が全て4倍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459943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→ LINE登録↑ → LTV売上↑（広告費ゼロ）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485546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→ 最も「利益率」を改善する変数</a:t>
            </a:r>
          </a:p>
        </p:txBody>
      </p:sp>
      <p:sp>
        <p:nvSpPr>
          <p:cNvPr id="17" name="Oval 16"/>
          <p:cNvSpPr/>
          <p:nvPr/>
        </p:nvSpPr>
        <p:spPr>
          <a:xfrm>
            <a:off x="8961120" y="1920240"/>
            <a:ext cx="2011680" cy="201168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オーガニックリーチ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4023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E88E5"/>
                </a:solidFill>
                <a:latin typeface="Meiryo"/>
              </a:defRPr>
            </a:pPr>
            <a:r>
              <a:t>広告に依存しない集客力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434340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TikTok動画 + SEO + Threads + IG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59943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→ 広告費なしで注文↑ → TACOS↓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85546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→ 最も「長期的に」重要な変数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11247120" cy="7315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なぜこの3つか？ → 統合方程式の全ての項に掛け算で登場する</a:t>
            </a:r>
          </a:p>
          <a:p>
            <a:pPr algn="l">
              <a:defRPr sz="1100">
                <a:solidFill>
                  <a:srgbClr val="333333"/>
                </a:solidFill>
                <a:latin typeface="Meiryo"/>
              </a:defRPr>
            </a:pPr>
            <a:r>
              <a:t>直接販売 = リーチ(3) x CVR(1) x 粗利    /    LINE経由 = リーチ(3) x CVR(1) x くじ参加率(2) x LTV</a:t>
            </a:r>
          </a:p>
          <a:p>
            <a:pPr algn="l">
              <a:defRPr sz="1100">
                <a:solidFill>
                  <a:srgbClr val="333333"/>
                </a:solidFill>
                <a:latin typeface="Meiryo"/>
              </a:defRPr>
            </a:pPr>
            <a:r>
              <a:t>→ 1つでもゼロなら利益は伸びない / 3つ全て伸ばすと指数関数的に成長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競合分析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主要競合: MELL fragrance（メルフレグランス）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MELL fragrance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COLLEGRANCE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差分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メルカリ累計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888888"/>
                          </a:solidFill>
                          <a:latin typeface="Meiryo"/>
                        </a:defRPr>
                      </a:pPr>
                      <a:r>
                        <a:t>17,374件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E63946"/>
                          </a:solidFill>
                          <a:latin typeface="Meiryo"/>
                        </a:defRPr>
                      </a:pPr>
                      <a:r>
                        <a:t>ほぼゼロ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E63946"/>
                          </a:solidFill>
                          <a:latin typeface="Meiryo"/>
                        </a:defRPr>
                      </a:pPr>
                      <a:r>
                        <a:t>要開拓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メルカリ日販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888888"/>
                          </a:solidFill>
                          <a:latin typeface="Meiryo"/>
                        </a:defRPr>
                      </a:pPr>
                      <a:r>
                        <a:t>40〜50件/日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endParaRPr/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TikTok Shop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888888"/>
                          </a:solidFill>
                          <a:latin typeface="Meiryo"/>
                        </a:defRPr>
                      </a:pPr>
                      <a:r>
                        <a:t>~10,000件(5ヶ月)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E63946"/>
                          </a:solidFill>
                          <a:latin typeface="Meiryo"/>
                        </a:defRPr>
                      </a:pPr>
                      <a:r>
                        <a:t>25件(4月ローンチ)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E63946"/>
                          </a:solidFill>
                          <a:latin typeface="Meiryo"/>
                        </a:defRPr>
                      </a:pPr>
                      <a:r>
                        <a:t>要成長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TikTokレビュー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888888"/>
                          </a:solidFill>
                          <a:latin typeface="Meiryo"/>
                        </a:defRPr>
                      </a:pPr>
                      <a:r>
                        <a:t>多数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E63946"/>
                          </a:solidFill>
                          <a:latin typeface="Meiryo"/>
                        </a:defRPr>
                      </a:pPr>
                      <a:r>
                        <a:t>1件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E63946"/>
                          </a:solidFill>
                          <a:latin typeface="Meiryo"/>
                        </a:defRPr>
                      </a:pPr>
                      <a:r>
                        <a:t>要50件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Amazon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888888"/>
                          </a:solidFill>
                          <a:latin typeface="Meiryo"/>
                        </a:defRPr>
                      </a:pPr>
                      <a:r>
                        <a:t>後発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1位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★優位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品揃え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888888"/>
                          </a:solidFill>
                          <a:latin typeface="Meiryo"/>
                        </a:defRPr>
                      </a:pPr>
                      <a:r>
                        <a:t>多い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130種類+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endParaRPr/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許可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888888"/>
                          </a:solidFill>
                          <a:latin typeface="Meiryo"/>
                        </a:defRPr>
                      </a:pPr>
                      <a:r>
                        <a:t>不明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★製造販売業許可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差別化ポイント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差別化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888888"/>
                          </a:solidFill>
                          <a:latin typeface="Meiryo"/>
                        </a:defRPr>
                      </a:pPr>
                      <a:r>
                        <a:t>品数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ケース・LINE CRM・AI診断・ナイトライト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endParaRPr/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51206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COLLEGRANCEの強み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544068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2E6B38"/>
                </a:solidFill>
                <a:latin typeface="Meiryo"/>
              </a:defRPr>
            </a:pPr>
            <a:r>
              <a:t>1. Amazon1位（デザイン性・切り口で後発ながら獲得）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566928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2E6B38"/>
                </a:solidFill>
                <a:latin typeface="Meiryo"/>
              </a:defRPr>
            </a:pPr>
            <a:r>
              <a:t>2. 化粧品製造販売業許可（信頼性）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589788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2E6B38"/>
                </a:solidFill>
                <a:latin typeface="Meiryo"/>
              </a:defRPr>
            </a:pPr>
            <a:r>
              <a:t>3. LINE CRM（リピート・アップセル仕組み）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612648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2E6B38"/>
                </a:solidFill>
                <a:latin typeface="Meiryo"/>
              </a:defRPr>
            </a:pPr>
            <a:r>
              <a:t>4. AI香水診断（自社サイト独自機能）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635508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2E6B38"/>
                </a:solidFill>
                <a:latin typeface="Meiryo"/>
              </a:defRPr>
            </a:pPr>
            <a:r>
              <a:t>5. ナイトライト（サステナブル×ものづくり）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120640"/>
            <a:ext cx="5486400" cy="109728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課題: TikTok・メルカリのレビュー数で大きく負けている</a:t>
            </a:r>
          </a:p>
          <a:p>
            <a:pPr algn="ctr">
              <a:defRPr sz="1300">
                <a:solidFill>
                  <a:srgbClr val="FFCCCC"/>
                </a:solidFill>
                <a:latin typeface="Meiryo"/>
              </a:defRPr>
            </a:pPr>
            <a:r>
              <a:t>→ レビュー獲得施策が最優先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Amazon販売実績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2025年10月〜2026年3月（実測+推定値）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6400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月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注文数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売上(税込)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広告費(税抜)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ROAS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10月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1,587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¥1,712,373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¥829,402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E63946"/>
                          </a:solidFill>
                          <a:latin typeface="Meiryo"/>
                        </a:defRPr>
                      </a:pPr>
                      <a:r>
                        <a:t>1.70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11月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2,494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¥2,691,026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¥758,425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2.31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12月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4,941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¥5,331,339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¥802,605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4.18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1月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3,433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¥3,704,207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¥618,290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3.83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2月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4,378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¥4,723,862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¥839,654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4.01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3月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4,323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¥4,664,517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¥702,310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3.58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1A1A1A"/>
                          </a:solidFill>
                          <a:latin typeface="Meiryo"/>
                        </a:defRPr>
                      </a:pPr>
                      <a:r>
                        <a:t>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1A1A1A"/>
                          </a:solidFill>
                          <a:latin typeface="Meiryo"/>
                        </a:defRPr>
                      </a:pPr>
                      <a:r>
                        <a:t>21,156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1A1A1A"/>
                          </a:solidFill>
                          <a:latin typeface="Meiryo"/>
                        </a:defRPr>
                      </a:pPr>
                      <a:r>
                        <a:t>¥22,827,324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1A1A1A"/>
                          </a:solidFill>
                          <a:latin typeface="Meiryo"/>
                        </a:defRPr>
                      </a:pPr>
                      <a:r>
                        <a:t>¥4,550,686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3.36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0" y="1280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月別注文数推移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932530"/>
            <a:ext cx="594360" cy="822349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3612490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1,587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800600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10月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3462542"/>
            <a:ext cx="594360" cy="1292337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0" y="3142502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2,494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800600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11月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2194560"/>
            <a:ext cx="594360" cy="256032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0" y="1874520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E63946"/>
                </a:solidFill>
                <a:latin typeface="Meiryo"/>
              </a:defRPr>
            </a:pPr>
            <a:r>
              <a:t>4,941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4800600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12月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66960" y="2975973"/>
            <a:ext cx="594360" cy="1778906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875520" y="2655933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3,433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4800600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1月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698480" y="2486294"/>
            <a:ext cx="594360" cy="2268585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607040" y="2166254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4,378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4800600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2月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0" y="2514794"/>
            <a:ext cx="594360" cy="2240085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338560" y="2194754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4,323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4800600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3月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50292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200"/>
              </a:spcAft>
              <a:defRPr sz="1300" b="1">
                <a:solidFill>
                  <a:srgbClr val="666666"/>
                </a:solidFill>
                <a:latin typeface="Meiryo"/>
              </a:defRPr>
            </a:pPr>
            <a:r>
              <a:t>ROAS推移</a:t>
            </a:r>
          </a:p>
          <a:p>
            <a:pPr algn="l"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10月: 1.70 → 3月: 3.58</a:t>
            </a:r>
          </a:p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（広告効率 2.1倍に改善）</a:t>
            </a:r>
          </a:p>
          <a:p>
            <a:pPr algn="l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333333"/>
                </a:solidFill>
                <a:latin typeface="Meiryo"/>
              </a:defRPr>
            </a:pPr>
            <a:endParaRPr/>
          </a:p>
          <a:p>
            <a:pPr algn="l"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E63946"/>
                </a:solidFill>
                <a:latin typeface="Meiryo"/>
              </a:defRPr>
            </a:pPr>
            <a:r>
              <a:t>TACOS: 21.9% → 目標15%</a:t>
            </a:r>
          </a:p>
          <a:p>
            <a:pPr algn="l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333333"/>
                </a:solidFill>
                <a:latin typeface="Meiryo"/>
              </a:defRPr>
            </a:pPr>
            <a:endParaRPr/>
          </a:p>
          <a:p>
            <a:pPr algn="l"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1A1A1A"/>
                </a:solidFill>
                <a:latin typeface="Meiryo"/>
              </a:defRPr>
            </a:pPr>
            <a:r>
              <a:t>平均単価（税込）: ¥1,079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48640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※10月・11月は実測値、12月〜3月はアンケート回答率からの推定</a:t>
            </a:r>
            <a:br/>
            <a:r>
              <a:t>※広告データは全月セラーセントラル実測値（税抜）、売上はSP-API（税込）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ユニットエコノミクス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1個あたりの利益構造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Amazon小分け（1.5ml）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A1A1A"/>
                </a:solidFill>
                <a:latin typeface="Meiryo"/>
              </a:defRPr>
            </a:pPr>
            <a:r>
              <a:t>販売価格(税抜)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6459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A1A1A"/>
                </a:solidFill>
                <a:latin typeface="Meiryo"/>
              </a:defRPr>
            </a:pPr>
            <a:r>
              <a:t>¥981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- 香水原価+副資材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0116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¥230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- FBA出荷費用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3774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¥202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- Amazon手数料(8%)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7432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¥78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063240"/>
            <a:ext cx="2560320" cy="18288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3A7D44"/>
                </a:solidFill>
                <a:latin typeface="Meiryo"/>
              </a:defRPr>
            </a:pPr>
            <a:r>
              <a:t>= 利益（広告費前）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108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3A7D44"/>
                </a:solidFill>
                <a:latin typeface="Meiryo"/>
              </a:defRPr>
            </a:pPr>
            <a:r>
              <a:t>¥470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57600"/>
            <a:ext cx="2926080" cy="7315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2E6B38"/>
                </a:solidFill>
                <a:latin typeface="Meiryo"/>
              </a:defRPr>
            </a:pPr>
            <a:r>
              <a:t>ケース付き(30%): +¥280 → 利益¥750/個</a:t>
            </a:r>
          </a:p>
          <a:p>
            <a:pPr algn="ctr">
              <a:defRPr sz="1200" b="1">
                <a:solidFill>
                  <a:srgbClr val="1A1A1A"/>
                </a:solidFill>
                <a:latin typeface="Meiryo"/>
              </a:defRPr>
            </a:pPr>
            <a:r>
              <a:t>加重平均利益: ¥554/個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1280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E63946"/>
                </a:solidFill>
                <a:latin typeface="Meiryo"/>
              </a:defRPr>
            </a:pPr>
            <a:r>
              <a:t>フルボトル（自社EC）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16459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666666"/>
                </a:solidFill>
                <a:latin typeface="Meiryo"/>
              </a:defRPr>
            </a:pPr>
            <a:r>
              <a:t>価格設定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1645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仕入原価 x 1.25 x 1.10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02996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666666"/>
                </a:solidFill>
                <a:latin typeface="Meiryo"/>
              </a:defRPr>
            </a:pPr>
            <a:r>
              <a:t>粗利率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02996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E63946"/>
                </a:solidFill>
                <a:latin typeface="Meiryo"/>
              </a:defRPr>
            </a:pPr>
            <a:r>
              <a:t>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140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666666"/>
                </a:solidFill>
                <a:latin typeface="Meiryo"/>
              </a:defRPr>
            </a:pPr>
            <a:r>
              <a:t>在庫リスク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241401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ゼロ（受注後発注）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279806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666666"/>
                </a:solidFill>
                <a:latin typeface="Meiryo"/>
              </a:defRPr>
            </a:pPr>
            <a:r>
              <a:t>広告費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7980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¥0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1821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666666"/>
                </a:solidFill>
                <a:latin typeface="Meiryo"/>
              </a:defRPr>
            </a:pPr>
            <a:r>
              <a:t>Amazon手数料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31821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¥0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0" y="3657600"/>
            <a:ext cx="2743200" cy="73152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低マージンだが在庫リスクゼロ</a:t>
            </a:r>
            <a:br/>
            <a:r>
              <a:t>LINE経由でAmazon広告費不要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9800"/>
                </a:solidFill>
                <a:latin typeface="Meiryo"/>
              </a:defRPr>
            </a:pPr>
            <a:r>
              <a:t>ナイトライト（新規）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0" y="1645920"/>
            <a:ext cx="2468880" cy="16459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A1A1A"/>
                </a:solidFill>
                <a:latin typeface="Meiryo"/>
              </a:defRPr>
            </a:pPr>
            <a:r>
              <a:t>自社ボトル</a:t>
            </a:r>
          </a:p>
          <a:p>
            <a:pPr algn="ctr">
              <a:defRPr sz="1000" b="0">
                <a:solidFill>
                  <a:srgbClr val="333333"/>
                </a:solidFill>
                <a:latin typeface="Meiryo"/>
              </a:defRPr>
            </a:pPr>
            <a:r>
              <a:t>¥3,480 - ¥300 = 粗利¥3,180</a:t>
            </a:r>
          </a:p>
          <a:p>
            <a:pPr algn="ctr">
              <a:defRPr sz="1000" b="1">
                <a:solidFill>
                  <a:srgbClr val="FF9800"/>
                </a:solidFill>
                <a:latin typeface="Meiryo"/>
              </a:defRPr>
            </a:pPr>
            <a:r>
              <a:t>粗利率 91%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0" y="1645920"/>
            <a:ext cx="2468880" cy="16459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A1A1A"/>
                </a:solidFill>
                <a:latin typeface="Meiryo"/>
              </a:defRPr>
            </a:pPr>
            <a:r>
              <a:t>返送加工</a:t>
            </a:r>
          </a:p>
          <a:p>
            <a:pPr algn="ctr">
              <a:defRPr sz="1000" b="0">
                <a:solidFill>
                  <a:srgbClr val="333333"/>
                </a:solidFill>
                <a:latin typeface="Meiryo"/>
              </a:defRPr>
            </a:pPr>
            <a:r>
              <a:t>¥2,480 - ¥300 = 粗利¥2,180</a:t>
            </a:r>
          </a:p>
          <a:p>
            <a:pPr algn="ctr">
              <a:defRPr sz="1000" b="1">
                <a:solidFill>
                  <a:srgbClr val="FF9800"/>
                </a:solidFill>
                <a:latin typeface="Meiryo"/>
              </a:defRPr>
            </a:pPr>
            <a:r>
              <a:t>粗利率 88%</a:t>
            </a:r>
          </a:p>
          <a:p>
            <a:pPr algn="ctr">
              <a:defRPr sz="800" b="0">
                <a:solidFill>
                  <a:srgbClr val="666666"/>
                </a:solidFill>
                <a:latin typeface="Meiryo"/>
              </a:defRPr>
            </a:pPr>
            <a:r>
              <a:t>※ボトル返送者は¥1,000引き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0" y="3657600"/>
            <a:ext cx="5120640" cy="73152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超高利益率 + ボトル返送→フルボトル購入動機に繋がる循環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754880"/>
            <a:ext cx="11247120" cy="7315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E6B38"/>
                </a:solidFill>
                <a:latin typeface="Meiryo"/>
              </a:defRPr>
            </a:pPr>
            <a:r>
              <a:t>Amazon小分け = キャッシュフローエンジン  /  フルボトル = ノーリスク追加利益  /  ナイトライト = 高利益の成長ドライバー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Amazon小分け事業 月別P/L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2025年10月〜2026年3月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0058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月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売上(税抜)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原価+手数料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広告費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粗利益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利益率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10月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¥1,556,703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¥810,215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¥829,402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E63946"/>
                          </a:solidFill>
                          <a:latin typeface="Meiryo"/>
                        </a:defRPr>
                      </a:pPr>
                      <a:r>
                        <a:t>-¥82,915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E63946"/>
                          </a:solidFill>
                          <a:latin typeface="Meiryo"/>
                        </a:defRPr>
                      </a:pPr>
                      <a: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11月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¥2,446,387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¥1,273,269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¥758,425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¥414,694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17.0%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12月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¥4,846,672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¥2,522,542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¥802,605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¥1,521,525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31.4%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1月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¥3,367,461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¥1,752,659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¥618,290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¥996,512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29.6%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2月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¥4,294,420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¥2,235,113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¥839,654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¥1,219,654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28.4%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3月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¥4,240,470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¥2,207,033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¥702,310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¥1,331,127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31.4%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1A1A1A"/>
                          </a:solidFill>
                          <a:latin typeface="Meiryo"/>
                        </a:defRPr>
                      </a:pPr>
                      <a:r>
                        <a:t>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1A1A1A"/>
                          </a:solidFill>
                          <a:latin typeface="Meiryo"/>
                        </a:defRPr>
                      </a:pPr>
                      <a:r>
                        <a:t>¥20,752,113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1A1A1A"/>
                          </a:solidFill>
                          <a:latin typeface="Meiryo"/>
                        </a:defRPr>
                      </a:pPr>
                      <a:r>
                        <a:t>¥10,800,831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1A1A1A"/>
                          </a:solidFill>
                          <a:latin typeface="Meiryo"/>
                        </a:defRPr>
                      </a:pPr>
                      <a:r>
                        <a:t>¥4,550,686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¥5,400,596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26.0%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486400"/>
            <a:ext cx="3200400" cy="64008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Meiryo"/>
              </a:defRPr>
            </a:pPr>
            <a:r>
              <a:t>月平均利益</a:t>
            </a:r>
          </a:p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¥900,099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5486400"/>
            <a:ext cx="3200400" cy="64008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Meiryo"/>
              </a:defRPr>
            </a:pPr>
            <a:r>
              <a:t>人件費控除後</a:t>
            </a:r>
          </a:p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¥740,099/月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5486400"/>
            <a:ext cx="3200400" cy="64008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Meiryo"/>
              </a:defRPr>
            </a:pPr>
            <a:r>
              <a:t>安定黒字化</a:t>
            </a:r>
          </a:p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11月以降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17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※10月は立ち上げ月で赤字。パート人件費 月16万円。12月〜3月の注文数はアンケート回答率からの推定値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アンケートファネル分析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Amazon購入者 → LINE登録 → クロスセル/アップセル対象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-457200" y="1371600"/>
            <a:ext cx="9144000" cy="82296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Amazon購入者（推定）    21,156人    (100%)</a:t>
            </a:r>
          </a:p>
        </p:txBody>
      </p:sp>
      <p:sp>
        <p:nvSpPr>
          <p:cNvPr id="6" name="Down Arrow 5"/>
          <p:cNvSpPr/>
          <p:nvPr/>
        </p:nvSpPr>
        <p:spPr>
          <a:xfrm>
            <a:off x="3977640" y="2194560"/>
            <a:ext cx="27432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2468880"/>
            <a:ext cx="7315200" cy="82296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LINE登録（アンケート回答）    1,258人    (登録率 5.3%)</a:t>
            </a:r>
          </a:p>
        </p:txBody>
      </p:sp>
      <p:sp>
        <p:nvSpPr>
          <p:cNvPr id="8" name="Down Arrow 7"/>
          <p:cNvSpPr/>
          <p:nvPr/>
        </p:nvSpPr>
        <p:spPr>
          <a:xfrm>
            <a:off x="3977640" y="3291840"/>
            <a:ext cx="27432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143000" y="3566160"/>
            <a:ext cx="5943600" cy="82296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「他にも試したい」    1,087人    (86.4%)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977640" y="4389120"/>
            <a:ext cx="27432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828800" y="4663440"/>
            <a:ext cx="4572000" cy="82296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「フルボトル検討中」    728人    (57.9%)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3566160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eiryo"/>
              </a:defRPr>
            </a:pPr>
            <a:r>
              <a:t>クロスセル対象</a:t>
            </a:r>
            <a:br/>
            <a:r>
              <a:t>1,087人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4663440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eiryo"/>
              </a:defRPr>
            </a:pPr>
            <a:r>
              <a:t>アップセル対象</a:t>
            </a:r>
            <a:br/>
            <a:r>
              <a:t>728人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486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E63946"/>
                </a:solidFill>
                <a:latin typeface="Meiryo"/>
              </a:defRPr>
            </a:pPr>
            <a:r>
              <a:t>★ 728人がフルボトル購入を検討中</a:t>
            </a:r>
          </a:p>
          <a:p>
            <a:pPr algn="l"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→ この2セグメントに対するLINE配信を明日ローンチ</a:t>
            </a:r>
          </a:p>
          <a:p>
            <a:pPr algn="l"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→ フルボトルLP / クロスセルLPをパーソナライズ配信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顧客属性（アンケートデータ）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回答者: 1,258人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性別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200400" cy="41148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男性 70%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31920" y="1737360"/>
            <a:ext cx="1325880" cy="41148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女性 29%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737360"/>
            <a:ext cx="45720" cy="41148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その他 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年齢分布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50代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770632"/>
            <a:ext cx="3657600" cy="2743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9067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40代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3118104"/>
            <a:ext cx="2926080" cy="2743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20%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43814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30代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54480" y="3465576"/>
            <a:ext cx="2779776" cy="2743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19%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78561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20代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54480" y="3813048"/>
            <a:ext cx="2633472" cy="2743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18%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13308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60代〜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160520"/>
            <a:ext cx="1755648" cy="2743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12%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4805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10代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54480" y="4507992"/>
            <a:ext cx="877824" cy="2743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満足度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17373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E63946"/>
                </a:solidFill>
                <a:latin typeface="Meiryo"/>
              </a:defRPr>
            </a:pPr>
            <a:r>
              <a:t>★4以上: 88.9%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2468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★5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2496312"/>
            <a:ext cx="3168396" cy="2286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59.4%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27889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★4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2816352"/>
            <a:ext cx="157353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29.5%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3108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★3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92240" y="3136392"/>
            <a:ext cx="506730" cy="22860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9.5%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34290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★2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3456432"/>
            <a:ext cx="58674" cy="22860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1.1%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7490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★1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92240" y="3776472"/>
            <a:ext cx="26670" cy="22860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0.5%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389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香水を知ったきっかけ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4754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YouTube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0" y="4782312"/>
            <a:ext cx="2651760" cy="228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29%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50474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Amazon・楽天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0" y="5074920"/>
            <a:ext cx="2377440" cy="228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26%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534009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SNS(IG/TikTok)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0" y="5367528"/>
            <a:ext cx="2011680" cy="228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22%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56327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友人・知人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0" y="5660136"/>
            <a:ext cx="1097280" cy="228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12%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592531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雑誌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0" y="5952744"/>
            <a:ext cx="548640" cy="228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6%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6217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その他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72400" y="6245352"/>
            <a:ext cx="457200" cy="228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846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人気商品TOP3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5212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E63946"/>
                </a:solidFill>
                <a:latin typeface="Meiryo"/>
              </a:defRPr>
            </a:pPr>
            <a:r>
              <a:t>1位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5212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商品030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0" y="5212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1A1A1A"/>
                </a:solidFill>
                <a:latin typeface="Meiryo"/>
              </a:defRPr>
            </a:pPr>
            <a:r>
              <a:t>42.1%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55321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E63946"/>
                </a:solidFill>
                <a:latin typeface="Meiryo"/>
              </a:defRPr>
            </a:pPr>
            <a:r>
              <a:t>2位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80160" y="5532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商品018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43200" y="55321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1A1A1A"/>
                </a:solidFill>
                <a:latin typeface="Meiryo"/>
              </a:defRPr>
            </a:pPr>
            <a:r>
              <a:t>20.6%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58521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E63946"/>
                </a:solidFill>
                <a:latin typeface="Meiryo"/>
              </a:defRPr>
            </a:pPr>
            <a:r>
              <a:t>3位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80160" y="5852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商品039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58521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1A1A1A"/>
                </a:solidFill>
                <a:latin typeface="Meiryo"/>
              </a:defRPr>
            </a:pPr>
            <a:r>
              <a:t>7.8%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販売チャネル詳細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チャネル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商品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現状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発送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KPI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Amazon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小分け+ケース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月3,500件/1位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FBA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TACOS 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TikTok Shop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小分け+ケース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25件/月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ネコポス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SPS30件→レビュー50件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メルカリShop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小分け+ケース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8SKU/立ち上げ中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ネコポス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レビュー獲得→日販20件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E63946"/>
                          </a:solidFill>
                          <a:latin typeface="Meiryo"/>
                        </a:defRPr>
                      </a:pPr>
                      <a:r>
                        <a:t>自社EC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フルボトル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5件累計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ヤマト運輸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E63946"/>
                          </a:solidFill>
                          <a:latin typeface="Meiryo"/>
                        </a:defRPr>
                      </a:pPr>
                      <a:r>
                        <a:t>LINE転換率20%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9800"/>
                          </a:solidFill>
                          <a:latin typeface="Meiryo"/>
                        </a:defRPr>
                      </a:pPr>
                      <a:r>
                        <a:t>TikTok/自社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ナイトライト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666666"/>
                          </a:solidFill>
                          <a:latin typeface="Meiryo"/>
                        </a:defRPr>
                      </a:pPr>
                      <a:r>
                        <a:t>準備中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ヤマト運輸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FF9800"/>
                          </a:solidFill>
                          <a:latin typeface="Meiryo"/>
                        </a:defRPr>
                      </a:pPr>
                      <a:r>
                        <a:t>月100個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72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運用・オペレーション体制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937760"/>
            <a:ext cx="13716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4937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1A1A1A"/>
                </a:solidFill>
                <a:latin typeface="Meiryo"/>
              </a:defRPr>
            </a:pPr>
            <a:r>
              <a:t>発送管理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4937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ネクストエンジン（TikTok+メルカリ統合）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303520"/>
            <a:ext cx="13716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5303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1A1A1A"/>
                </a:solidFill>
                <a:latin typeface="Meiryo"/>
              </a:defRPr>
            </a:pPr>
            <a:r>
              <a:t>オペレーション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303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固まるまで四宮が対応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669280"/>
            <a:ext cx="13716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1A1A1A"/>
                </a:solidFill>
                <a:latin typeface="Meiryo"/>
              </a:defRPr>
            </a:pPr>
            <a:r>
              <a:t>11月〜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56692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A7D44"/>
                </a:solidFill>
                <a:latin typeface="Meiryo"/>
              </a:defRPr>
            </a:pPr>
            <a:r>
              <a:t>守殿さん復帰で体制強化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LINE CRM設計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LINE Harness（自社開発CRM/MA）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74320"/>
            <a:ext cx="2743200" cy="4572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明日ローンチ!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シナリオ配信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914400" cy="4572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Day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73736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ウェルカム + 購入商品タグ付け</a:t>
            </a:r>
          </a:p>
        </p:txBody>
      </p:sp>
      <p:sp>
        <p:nvSpPr>
          <p:cNvPr id="9" name="Down Arrow 8"/>
          <p:cNvSpPr/>
          <p:nvPr/>
        </p:nvSpPr>
        <p:spPr>
          <a:xfrm>
            <a:off x="1051560" y="2240280"/>
            <a:ext cx="182880" cy="27432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31520" y="2743200"/>
            <a:ext cx="914400" cy="45720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Day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74320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「香りはいかがですか？」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051560" y="3246120"/>
            <a:ext cx="182880" cy="27432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31520" y="3749040"/>
            <a:ext cx="914400" cy="4572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Day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74904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フルボトルLP配信</a:t>
            </a:r>
            <a:br/>
            <a:r>
              <a:t>collegrance.com/?from=sample&amp;product={ID}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1051560" y="4251960"/>
            <a:ext cx="182880" cy="27432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31520" y="4754880"/>
            <a:ext cx="914400" cy="4572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Day 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75488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AI香水診断誘導</a:t>
            </a:r>
            <a:br/>
            <a:r>
              <a:t>collegrance.com/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280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アンケート → レコメンド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737360"/>
            <a:ext cx="1828800" cy="4572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アンケート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17373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333333"/>
                </a:solidFill>
                <a:latin typeface="Meiryo"/>
              </a:defRPr>
            </a:pPr>
            <a:r>
              <a:t>「次に試したい香りは？」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7178040" y="2240280"/>
            <a:ext cx="182880" cy="27432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400800" y="2926080"/>
            <a:ext cx="1828800" cy="45720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タグ付け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926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333333"/>
                </a:solidFill>
                <a:latin typeface="Meiryo"/>
              </a:defRPr>
            </a:pPr>
            <a:r>
              <a:t>回答に基づき興味タグ付与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7178040" y="3429000"/>
            <a:ext cx="182880" cy="27432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00800" y="4114800"/>
            <a:ext cx="1828800" cy="4572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レコメンド配信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1148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333333"/>
                </a:solidFill>
                <a:latin typeface="Meiryo"/>
              </a:defRPr>
            </a:pPr>
            <a:r>
              <a:t>小分けおすすめLP</a:t>
            </a:r>
            <a:br/>
            <a:r>
              <a:t>?from=recommend&amp;product={ID}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5303520"/>
            <a:ext cx="10515600" cy="7315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ポイント: 商品IDに応じてURLを動的生成し、パーソナライズ配信を実現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香りくじ — くじ参加率5%→20%への施策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全チャネル共通のLINE登録インセンティブ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E63946"/>
                </a:solidFill>
                <a:latin typeface="Meiryo"/>
              </a:defRPr>
            </a:pPr>
            <a:r>
              <a:t>現状の課題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ケースプレゼント: 獲得単価¥220、登録率5.3%</a:t>
            </a:r>
            <a:br/>
            <a:r>
              <a:t>TikTok/メルカリ購入者にはケースが重複して使えない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86000"/>
            <a:ext cx="5029200" cy="3657600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 w="25400">
            <a:solidFill>
              <a:srgbClr val="3A7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3A7D44"/>
                </a:solidFill>
                <a:latin typeface="Meiryo"/>
              </a:defRPr>
            </a:pPr>
            <a:r>
              <a:t>COLLEGRANCE 香りくじ</a:t>
            </a:r>
          </a:p>
          <a:p>
            <a:pPr algn="l">
              <a:spcAft>
                <a:spcPts val="100"/>
              </a:spcAft>
              <a:defRPr sz="500" b="0">
                <a:solidFill>
                  <a:srgbClr val="333333"/>
                </a:solidFill>
                <a:latin typeface="Meiryo"/>
              </a:defRPr>
            </a:pPr>
            <a:endParaRPr/>
          </a:p>
          <a:p>
            <a:pPr algn="l">
              <a:spcAft>
                <a:spcPts val="100"/>
              </a:spcAft>
              <a:defRPr sz="1100" b="1">
                <a:solidFill>
                  <a:srgbClr val="2E6B38"/>
                </a:solidFill>
                <a:latin typeface="Meiryo"/>
              </a:defRPr>
            </a:pPr>
            <a:r>
              <a:t>全員: 自社EC ¥300 OFFクーポン</a:t>
            </a:r>
          </a:p>
          <a:p>
            <a:pPr algn="l">
              <a:spcAft>
                <a:spcPts val="100"/>
              </a:spcAft>
              <a:defRPr sz="500" b="0">
                <a:solidFill>
                  <a:srgbClr val="333333"/>
                </a:solidFill>
                <a:latin typeface="Meiryo"/>
              </a:defRPr>
            </a:pPr>
            <a:endParaRPr/>
          </a:p>
          <a:p>
            <a:pPr algn="l">
              <a:spcAft>
                <a:spcPts val="100"/>
              </a:spcAft>
              <a:defRPr sz="1100" b="1">
                <a:solidFill>
                  <a:srgbClr val="E63946"/>
                </a:solidFill>
                <a:latin typeface="Meiryo"/>
              </a:defRPr>
            </a:pPr>
            <a:r>
              <a:t>1/100: フルボトル ¥10,000 OFFチケット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333333"/>
                </a:solidFill>
                <a:latin typeface="Meiryo"/>
              </a:defRPr>
            </a:pPr>
            <a:r>
              <a:t>5/100: フルボトル ¥1,000 OFF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333333"/>
                </a:solidFill>
                <a:latin typeface="Meiryo"/>
              </a:defRPr>
            </a:pPr>
            <a:r>
              <a:t>20/100: 自社EC ¥500 OFF</a:t>
            </a:r>
          </a:p>
          <a:p>
            <a:pPr algn="l">
              <a:spcAft>
                <a:spcPts val="100"/>
              </a:spcAft>
              <a:defRPr sz="500" b="0">
                <a:solidFill>
                  <a:srgbClr val="333333"/>
                </a:solidFill>
                <a:latin typeface="Meiryo"/>
              </a:defRPr>
            </a:pPr>
            <a:endParaRPr/>
          </a:p>
          <a:p>
            <a:pPr algn="l">
              <a:spcAft>
                <a:spcPts val="100"/>
              </a:spcAft>
              <a:defRPr sz="1100" b="0">
                <a:solidFill>
                  <a:srgbClr val="333333"/>
                </a:solidFill>
                <a:latin typeface="Meiryo"/>
              </a:defRPr>
            </a:pPr>
            <a:r>
              <a:t>じゃんけん演出 → 結果表示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333333"/>
                </a:solidFill>
                <a:latin typeface="Meiryo"/>
              </a:defRPr>
            </a:pPr>
            <a:r>
              <a:t>「あなたは90人目。あと10人でチャンスリセット！」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333333"/>
                </a:solidFill>
                <a:latin typeface="Meiryo"/>
              </a:defRPr>
            </a:pPr>
            <a:r>
              <a:t>→ もう1本買って再挑戦したくなる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1887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仕組み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5544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1A1A1A"/>
                </a:solidFill>
                <a:latin typeface="Meiryo"/>
              </a:defRPr>
            </a:pPr>
            <a:r>
              <a:t>全商品にバリアブル印刷カード同梱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8288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Meiryo"/>
              </a:defRPr>
            </a:pPr>
            <a:r>
              <a:t>ラクスル発注、¥2/枚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488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1A1A1A"/>
                </a:solidFill>
                <a:latin typeface="Meiryo"/>
              </a:defRPr>
            </a:pPr>
            <a:r>
              <a:t>ユニークコード → LINE登録 → コード入力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23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Meiryo"/>
              </a:defRPr>
            </a:pPr>
            <a:r>
              <a:t>SP-APIで注文突合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74320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7432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1A1A1A"/>
                </a:solidFill>
                <a:latin typeface="Meiryo"/>
              </a:defRPr>
            </a:pPr>
            <a:r>
              <a:t>認証OK → じゃんけん演出 → 結果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0175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Meiryo"/>
              </a:defRPr>
            </a:pPr>
            <a:r>
              <a:t>クーポン自動配信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3375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3375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1A1A1A"/>
                </a:solidFill>
                <a:latin typeface="Meiryo"/>
              </a:defRPr>
            </a:pPr>
            <a:r>
              <a:t>1注文1回限り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611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Meiryo"/>
              </a:defRPr>
            </a:pPr>
            <a:r>
              <a:t>不正防止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4114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コスト分析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217920" y="4480560"/>
          <a:ext cx="53035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金額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備考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カード印刷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¥8,000/月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666666"/>
                          </a:solidFill>
                          <a:latin typeface="Meiryo"/>
                        </a:defRPr>
                      </a:pPr>
                      <a:r>
                        <a:t>4,000枚 x ¥2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1等(月8人)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E63946"/>
                          </a:solidFill>
                          <a:latin typeface="Meiryo"/>
                        </a:defRPr>
                      </a:pPr>
                      <a:r>
                        <a:t>¥80,000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666666"/>
                          </a:solidFill>
                          <a:latin typeface="Meiryo"/>
                        </a:defRPr>
                      </a:pPr>
                      <a:r>
                        <a:t>¥10,000 OFF x 8人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2等クーポン使用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666666"/>
                          </a:solidFill>
                          <a:latin typeface="Meiryo"/>
                        </a:defRPr>
                      </a:pPr>
                      <a:r>
                        <a:t>使用時のみ発生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1A1A1A"/>
                          </a:solidFill>
                          <a:latin typeface="Meiryo"/>
                        </a:defRPr>
                      </a:pPr>
                      <a:r>
                        <a:t>合計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E63946"/>
                          </a:solidFill>
                          <a:latin typeface="Meiryo"/>
                        </a:defRPr>
                      </a:pPr>
                      <a:r>
                        <a:t>¥96,000/月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獲得単価 ¥120/人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6217920" y="5760720"/>
            <a:ext cx="5303520" cy="45720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2E6B38"/>
                </a:solidFill>
                <a:latin typeface="Meiryo"/>
              </a:defRPr>
            </a:pPr>
            <a:r>
              <a:t>1等を¥10,000 OFFチケットにすれば使用時のみコスト発生 + フルボトル購入が必ず発生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自社サイト + SNS戦略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collegrance.com（リニューアル完了）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3716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AI香水診断（Claude AI）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03120"/>
            <a:ext cx="13716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フルボトルEC（130種類、Stripe決済）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68880"/>
            <a:ext cx="13716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468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ブログ60本（SEO、100本目標）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34640"/>
            <a:ext cx="13716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28346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商品LP（LINE配信のリンク先）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200400"/>
            <a:ext cx="13716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200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GA4 eコマーストラッキング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SNS戦略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943600" y="173736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チャネル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担当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状態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TikTok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みのべさん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稼働中（毎日1本）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Threads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keito（中の人）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666666"/>
                          </a:solidFill>
                          <a:latin typeface="Meiryo"/>
                        </a:defRPr>
                      </a:pPr>
                      <a:r>
                        <a:t>準備中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Instagram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keito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666666"/>
                          </a:solidFill>
                          <a:latin typeface="Meiryo"/>
                        </a:defRPr>
                      </a:pPr>
                      <a:r>
                        <a:t>準備中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943600" y="3749039"/>
            <a:ext cx="5486400" cy="7315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A1A1A"/>
                </a:solidFill>
                <a:latin typeface="Meiryo"/>
              </a:defRPr>
            </a:pPr>
            <a:r>
              <a:t>TikTok: みのべさん毎日1本投稿</a:t>
            </a:r>
          </a:p>
          <a:p>
            <a:pPr algn="l">
              <a:defRPr sz="1100">
                <a:solidFill>
                  <a:srgbClr val="666666"/>
                </a:solidFill>
                <a:latin typeface="Meiryo"/>
              </a:defRPr>
            </a:pPr>
            <a:r>
              <a:t>現在の平均再生数: 約2,000回/本 / アルゴリズム研究中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114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新施策: ナイトライト事業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57200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フルボトル</a:t>
            </a:r>
            <a:br/>
            <a:r>
              <a:t>空き瓶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423160" y="4892040"/>
            <a:ext cx="41148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2926080" y="457200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3Dプリンタ</a:t>
            </a:r>
            <a:br/>
            <a:r>
              <a:t>で加工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617720" y="4892040"/>
            <a:ext cx="41148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120640" y="457200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ナイトライト</a:t>
            </a:r>
            <a:br/>
            <a:r>
              <a:t>完成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812280" y="4892040"/>
            <a:ext cx="41148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315200" y="457200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TikTok動画</a:t>
            </a:r>
            <a:br/>
            <a:r>
              <a:t>で拡散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006840" y="4892040"/>
            <a:ext cx="41148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509760" y="457200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販売</a:t>
            </a:r>
            <a:br/>
            <a:r>
              <a:t>(各チャネル)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669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3A7D44"/>
                </a:solidFill>
                <a:latin typeface="Meiryo"/>
              </a:defRPr>
            </a:pPr>
            <a:r>
              <a:t>香水の「試す → 使う → 残る → 再生 → 広がる」全ライフサイクルをビジネス化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月別売上目標（2026年4月〜2027年1月）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累計: ¥57,200,000（目標5,000万超え）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601438"/>
            <a:ext cx="777240" cy="1427761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3593172"/>
            <a:ext cx="777240" cy="8265"/>
          </a:xfrm>
          <a:prstGeom prst="roundRect">
            <a:avLst>
              <a:gd name="adj" fmla="val 5000"/>
            </a:avLst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3570629"/>
            <a:ext cx="777240" cy="22543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3296309"/>
            <a:ext cx="960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Aft>
                <a:spcPts val="0"/>
              </a:spcAft>
              <a:defRPr sz="800" b="1">
                <a:solidFill>
                  <a:srgbClr val="1A1A1A"/>
                </a:solidFill>
                <a:latin typeface="Meiryo"/>
              </a:defRPr>
            </a:pPr>
            <a:r>
              <a:t>¥3.9M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0749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4月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3526293"/>
            <a:ext cx="777240" cy="1502906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463040" y="3492478"/>
            <a:ext cx="777240" cy="33815"/>
          </a:xfrm>
          <a:prstGeom prst="roundRect">
            <a:avLst>
              <a:gd name="adj" fmla="val 5000"/>
            </a:avLst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463040" y="3475570"/>
            <a:ext cx="777240" cy="16907"/>
          </a:xfrm>
          <a:prstGeom prst="roundRect">
            <a:avLst>
              <a:gd name="adj" fmla="val 5000"/>
            </a:avLst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463040" y="3400425"/>
            <a:ext cx="777240" cy="75145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371600" y="3126105"/>
            <a:ext cx="960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Aft>
                <a:spcPts val="0"/>
              </a:spcAft>
              <a:defRPr sz="800" b="1">
                <a:solidFill>
                  <a:srgbClr val="1A1A1A"/>
                </a:solidFill>
                <a:latin typeface="Meiryo"/>
              </a:defRPr>
            </a:pPr>
            <a:r>
              <a:t>¥4.3M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50749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5月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68880" y="3451148"/>
            <a:ext cx="777240" cy="1578051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468880" y="3394789"/>
            <a:ext cx="777240" cy="56358"/>
          </a:xfrm>
          <a:prstGeom prst="roundRect">
            <a:avLst>
              <a:gd name="adj" fmla="val 5000"/>
            </a:avLst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468880" y="3377881"/>
            <a:ext cx="777240" cy="16907"/>
          </a:xfrm>
          <a:prstGeom prst="roundRect">
            <a:avLst>
              <a:gd name="adj" fmla="val 5000"/>
            </a:avLst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468880" y="3246377"/>
            <a:ext cx="777240" cy="131504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2468880" y="3233226"/>
            <a:ext cx="777240" cy="1315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77440" y="2958906"/>
            <a:ext cx="960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Aft>
                <a:spcPts val="0"/>
              </a:spcAft>
              <a:defRPr sz="800" b="1">
                <a:solidFill>
                  <a:srgbClr val="1A1A1A"/>
                </a:solidFill>
                <a:latin typeface="Meiryo"/>
              </a:defRPr>
            </a:pPr>
            <a:r>
              <a:t>¥4.8M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50749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6月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4720" y="3526293"/>
            <a:ext cx="777240" cy="1502906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474720" y="3424847"/>
            <a:ext cx="777240" cy="101446"/>
          </a:xfrm>
          <a:prstGeom prst="roundRect">
            <a:avLst>
              <a:gd name="adj" fmla="val 5000"/>
            </a:avLst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474720" y="3368488"/>
            <a:ext cx="777240" cy="56358"/>
          </a:xfrm>
          <a:prstGeom prst="roundRect">
            <a:avLst>
              <a:gd name="adj" fmla="val 5000"/>
            </a:avLst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3474720" y="3218197"/>
            <a:ext cx="777240" cy="15029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474720" y="3205047"/>
            <a:ext cx="777240" cy="1315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383280" y="2930727"/>
            <a:ext cx="960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Aft>
                <a:spcPts val="0"/>
              </a:spcAft>
              <a:defRPr sz="800" b="1">
                <a:solidFill>
                  <a:srgbClr val="1A1A1A"/>
                </a:solidFill>
                <a:latin typeface="Meiryo"/>
              </a:defRPr>
            </a:pPr>
            <a:r>
              <a:t>¥4.9M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50749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7月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80560" y="3601438"/>
            <a:ext cx="777240" cy="1427761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480560" y="3507507"/>
            <a:ext cx="777240" cy="93931"/>
          </a:xfrm>
          <a:prstGeom prst="roundRect">
            <a:avLst>
              <a:gd name="adj" fmla="val 5000"/>
            </a:avLst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480560" y="3458662"/>
            <a:ext cx="777240" cy="48844"/>
          </a:xfrm>
          <a:prstGeom prst="roundRect">
            <a:avLst>
              <a:gd name="adj" fmla="val 5000"/>
            </a:avLst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4480560" y="3327158"/>
            <a:ext cx="777240" cy="131504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480560" y="3300857"/>
            <a:ext cx="777240" cy="2630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89120" y="3026537"/>
            <a:ext cx="960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Aft>
                <a:spcPts val="0"/>
              </a:spcAft>
              <a:defRPr sz="800" b="1">
                <a:solidFill>
                  <a:srgbClr val="1A1A1A"/>
                </a:solidFill>
                <a:latin typeface="Meiryo"/>
              </a:defRPr>
            </a:pPr>
            <a:r>
              <a:t>¥4.6M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50749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8月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0" y="3451148"/>
            <a:ext cx="777240" cy="1578051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5486400" y="3319643"/>
            <a:ext cx="777240" cy="131504"/>
          </a:xfrm>
          <a:prstGeom prst="roundRect">
            <a:avLst>
              <a:gd name="adj" fmla="val 5000"/>
            </a:avLst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486400" y="3244498"/>
            <a:ext cx="777240" cy="75145"/>
          </a:xfrm>
          <a:prstGeom prst="roundRect">
            <a:avLst>
              <a:gd name="adj" fmla="val 5000"/>
            </a:avLst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5486400" y="3075421"/>
            <a:ext cx="777240" cy="169076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5486400" y="3049120"/>
            <a:ext cx="777240" cy="2630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394960" y="2774800"/>
            <a:ext cx="960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Aft>
                <a:spcPts val="0"/>
              </a:spcAft>
              <a:defRPr sz="800" b="1">
                <a:solidFill>
                  <a:srgbClr val="1A1A1A"/>
                </a:solidFill>
                <a:latin typeface="Meiryo"/>
              </a:defRPr>
            </a:pPr>
            <a:r>
              <a:t>¥5.3M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40680" y="50749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9月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92240" y="3150566"/>
            <a:ext cx="777240" cy="1878633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6492240" y="2887558"/>
            <a:ext cx="777240" cy="263008"/>
          </a:xfrm>
          <a:prstGeom prst="roundRect">
            <a:avLst>
              <a:gd name="adj" fmla="val 5000"/>
            </a:avLst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6492240" y="2699694"/>
            <a:ext cx="777240" cy="187863"/>
          </a:xfrm>
          <a:prstGeom prst="roundRect">
            <a:avLst>
              <a:gd name="adj" fmla="val 5000"/>
            </a:avLst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492240" y="2474258"/>
            <a:ext cx="777240" cy="225435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6492240" y="2434807"/>
            <a:ext cx="777240" cy="39451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00800" y="2160487"/>
            <a:ext cx="960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Aft>
                <a:spcPts val="0"/>
              </a:spcAft>
              <a:defRPr sz="800" b="1">
                <a:solidFill>
                  <a:srgbClr val="1A1A1A"/>
                </a:solidFill>
                <a:latin typeface="Meiryo"/>
              </a:defRPr>
            </a:pPr>
            <a:r>
              <a:t>¥6.9M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50749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10月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0" y="2962703"/>
            <a:ext cx="777240" cy="2066496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7498080" y="2624549"/>
            <a:ext cx="777240" cy="338153"/>
          </a:xfrm>
          <a:prstGeom prst="roundRect">
            <a:avLst>
              <a:gd name="adj" fmla="val 5000"/>
            </a:avLst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7498080" y="2370933"/>
            <a:ext cx="777240" cy="253615"/>
          </a:xfrm>
          <a:prstGeom prst="roundRect">
            <a:avLst>
              <a:gd name="adj" fmla="val 5000"/>
            </a:avLst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7498080" y="2145498"/>
            <a:ext cx="777240" cy="225435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7498080" y="2051566"/>
            <a:ext cx="777240" cy="93931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406640" y="1777246"/>
            <a:ext cx="960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Aft>
                <a:spcPts val="0"/>
              </a:spcAft>
              <a:defRPr sz="800" b="1">
                <a:solidFill>
                  <a:srgbClr val="1A1A1A"/>
                </a:solidFill>
                <a:latin typeface="Meiryo"/>
              </a:defRPr>
            </a:pPr>
            <a:r>
              <a:t>¥7.9M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52360" y="50749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11月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503920" y="2774840"/>
            <a:ext cx="777240" cy="2254359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8503920" y="2323968"/>
            <a:ext cx="777240" cy="450871"/>
          </a:xfrm>
          <a:prstGeom prst="roundRect">
            <a:avLst>
              <a:gd name="adj" fmla="val 5000"/>
            </a:avLst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8503920" y="1985814"/>
            <a:ext cx="777240" cy="338153"/>
          </a:xfrm>
          <a:prstGeom prst="roundRect">
            <a:avLst>
              <a:gd name="adj" fmla="val 5000"/>
            </a:avLst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61" name="Rounded Rectangle 60"/>
          <p:cNvSpPr/>
          <p:nvPr/>
        </p:nvSpPr>
        <p:spPr>
          <a:xfrm>
            <a:off x="8503920" y="1685232"/>
            <a:ext cx="777240" cy="300581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8503920" y="1554480"/>
            <a:ext cx="777240" cy="130752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412480" y="1280160"/>
            <a:ext cx="960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Aft>
                <a:spcPts val="0"/>
              </a:spcAft>
              <a:defRPr sz="800" b="1">
                <a:solidFill>
                  <a:srgbClr val="1A1A1A"/>
                </a:solidFill>
                <a:latin typeface="Meiryo"/>
              </a:defRPr>
            </a:pPr>
            <a:r>
              <a:t>¥9.2M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58200" y="50749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12月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509760" y="3601438"/>
            <a:ext cx="777240" cy="1427761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9509760" y="3376002"/>
            <a:ext cx="777240" cy="225435"/>
          </a:xfrm>
          <a:prstGeom prst="roundRect">
            <a:avLst>
              <a:gd name="adj" fmla="val 5000"/>
            </a:avLst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9509760" y="3206925"/>
            <a:ext cx="777240" cy="169076"/>
          </a:xfrm>
          <a:prstGeom prst="roundRect">
            <a:avLst>
              <a:gd name="adj" fmla="val 5000"/>
            </a:avLst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68" name="Rounded Rectangle 67"/>
          <p:cNvSpPr/>
          <p:nvPr/>
        </p:nvSpPr>
        <p:spPr>
          <a:xfrm>
            <a:off x="9509760" y="3056635"/>
            <a:ext cx="777240" cy="15029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69" name="Rounded Rectangle 68"/>
          <p:cNvSpPr/>
          <p:nvPr/>
        </p:nvSpPr>
        <p:spPr>
          <a:xfrm>
            <a:off x="9509760" y="3000276"/>
            <a:ext cx="777240" cy="56358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9418320" y="2725956"/>
            <a:ext cx="960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Aft>
                <a:spcPts val="0"/>
              </a:spcAft>
              <a:defRPr sz="800" b="1">
                <a:solidFill>
                  <a:srgbClr val="1A1A1A"/>
                </a:solidFill>
                <a:latin typeface="Meiryo"/>
              </a:defRPr>
            </a:pPr>
            <a:r>
              <a:t>¥5.4M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464040" y="50749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1月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7200" y="5394960"/>
            <a:ext cx="274320" cy="18288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77240" y="537667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Amazon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560320" y="5394960"/>
            <a:ext cx="274320" cy="182880"/>
          </a:xfrm>
          <a:prstGeom prst="roundRect">
            <a:avLst>
              <a:gd name="adj" fmla="val 5000"/>
            </a:avLst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2880360" y="537667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TikTok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663440" y="5394960"/>
            <a:ext cx="274320" cy="182880"/>
          </a:xfrm>
          <a:prstGeom prst="roundRect">
            <a:avLst>
              <a:gd name="adj" fmla="val 5000"/>
            </a:avLst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4983480" y="537667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メルカリ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766560" y="5394960"/>
            <a:ext cx="274320" cy="18288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7086600" y="537667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フルボトル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869680" y="5394960"/>
            <a:ext cx="274320" cy="18288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9189720" y="537667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ナイトライト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" y="5760720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60"/>
              </a:lnSpc>
              <a:spcAft>
                <a:spcPts val="0"/>
              </a:spcAft>
              <a:defRPr sz="800" b="0">
                <a:solidFill>
                  <a:srgbClr val="666666"/>
                </a:solidFill>
                <a:latin typeface="Meiryo"/>
              </a:defRPr>
            </a:pPr>
            <a:r>
              <a:t>※7-8月: 夏の需要減を反映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7200" y="5961888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60"/>
              </a:lnSpc>
              <a:spcAft>
                <a:spcPts val="0"/>
              </a:spcAft>
              <a:defRPr sz="800" b="0">
                <a:solidFill>
                  <a:srgbClr val="E63946"/>
                </a:solidFill>
                <a:latin typeface="Meiryo"/>
              </a:defRPr>
            </a:pPr>
            <a:r>
              <a:t>※12月: ギフト需要ピーク ¥9.2M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7200" y="6163056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60"/>
              </a:lnSpc>
              <a:spcAft>
                <a:spcPts val="0"/>
              </a:spcAft>
              <a:defRPr sz="800" b="0">
                <a:solidFill>
                  <a:srgbClr val="666666"/>
                </a:solidFill>
                <a:latin typeface="Meiryo"/>
              </a:defRPr>
            </a:pPr>
            <a:r>
              <a:t>※1月: 年末反動で減少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903720" y="5731769"/>
            <a:ext cx="4389120" cy="64008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eiryo"/>
              </a:defRPr>
            </a:pPr>
            <a:r>
              <a:t>10ヶ月累計: ¥57,200,000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チャネル別KPI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474720" cy="36576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Amazon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TACOS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6916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1A1A1A"/>
                </a:solidFill>
                <a:latin typeface="Meiryo"/>
              </a:defRPr>
            </a:pPr>
            <a:r>
              <a:t>21.9%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6916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16916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A7D44"/>
                </a:solidFill>
                <a:latin typeface="Meiryo"/>
              </a:defRPr>
            </a:pPr>
            <a:r>
              <a:t>15%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月間注文数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0116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1A1A1A"/>
                </a:solidFill>
                <a:latin typeface="Meiryo"/>
              </a:defRPr>
            </a:pPr>
            <a:r>
              <a:t>3,500件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0116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0116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A7D44"/>
                </a:solidFill>
                <a:latin typeface="Meiryo"/>
              </a:defRPr>
            </a:pPr>
            <a:r>
              <a:t>4,500件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331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ROAS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3317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1A1A1A"/>
                </a:solidFill>
                <a:latin typeface="Meiryo"/>
              </a:defRPr>
            </a:pPr>
            <a:r>
              <a:t>3.58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3317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3317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A7D44"/>
                </a:solidFill>
                <a:latin typeface="Meiryo"/>
              </a:defRPr>
            </a:pPr>
            <a:r>
              <a:t>4.5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743200"/>
            <a:ext cx="3474720" cy="365760"/>
          </a:xfrm>
          <a:prstGeom prst="roundRect">
            <a:avLst>
              <a:gd name="adj" fmla="val 5000"/>
            </a:avLst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TikTok Shop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2461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5月: SPS 30件達成 → プロモーション対象に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204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7月: レビュー50件達成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947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10月: 月間1,000件（MELL比50%）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690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動画: 毎日1本、再生数2,000→5,000回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1188720"/>
            <a:ext cx="3474720" cy="365760"/>
          </a:xfrm>
          <a:prstGeom prst="roundRect">
            <a:avLst>
              <a:gd name="adj" fmla="val 5000"/>
            </a:avLst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メルカリShop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16916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6月: レビュー100件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19659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8月: フォロワー500人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2402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10月: 日販20件（月600件）、レビュー500件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2743200"/>
            <a:ext cx="3474720" cy="36576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LINE → フルボトル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3246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登録率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32461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1A1A1A"/>
                </a:solidFill>
                <a:latin typeface="Meiryo"/>
              </a:defRPr>
            </a:pPr>
            <a:r>
              <a:t>5.3%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2461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32461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A7D44"/>
                </a:solidFill>
                <a:latin typeface="Meiryo"/>
              </a:defRPr>
            </a:pPr>
            <a:r>
              <a:t>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3520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シナリオ開封率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35204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1A1A1A"/>
                </a:solidFill>
                <a:latin typeface="Meiryo"/>
              </a:defRPr>
            </a:pPr>
            <a:r>
              <a:t>-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520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35204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A7D44"/>
                </a:solidFill>
                <a:latin typeface="Meiryo"/>
              </a:defRPr>
            </a:pPr>
            <a:r>
              <a:t>60%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3794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フルボトル転換率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0" y="37947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1A1A1A"/>
                </a:solidFill>
                <a:latin typeface="Meiryo"/>
              </a:defRPr>
            </a:pPr>
            <a:r>
              <a:t>-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7947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37947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A7D44"/>
                </a:solidFill>
                <a:latin typeface="Meiryo"/>
              </a:defRPr>
            </a:pPr>
            <a:r>
              <a:t>20%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21040" y="1188720"/>
            <a:ext cx="3474720" cy="36576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ナイトライト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16916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6月: 製作開始（自社ボトル月50個）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19659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8月: 返送加工サービス開始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22402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11月: 月100個（50個自社+50個返送加工）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572000"/>
            <a:ext cx="11247120" cy="137160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A1A1A"/>
                </a:solidFill>
                <a:latin typeface="Meiryo"/>
              </a:defRPr>
            </a:pPr>
            <a:r>
              <a:t>KPIまとめ: 最優先はレビュー獲得</a:t>
            </a:r>
          </a:p>
          <a:p>
            <a:pPr algn="l">
              <a:defRPr sz="1100">
                <a:solidFill>
                  <a:srgbClr val="333333"/>
                </a:solidFill>
                <a:latin typeface="Meiryo"/>
              </a:defRPr>
            </a:pPr>
            <a:r>
              <a:t>1. TikTok SPS 30件（5月） → レビュー50件（7月） → 月間1,000件（10月）</a:t>
            </a:r>
          </a:p>
          <a:p>
            <a:pPr algn="l">
              <a:defRPr sz="1100">
                <a:solidFill>
                  <a:srgbClr val="333333"/>
                </a:solidFill>
                <a:latin typeface="Meiryo"/>
              </a:defRPr>
            </a:pPr>
            <a:r>
              <a:t>2. メルカリ レビュー100件（6月） → 日販20件（10月）</a:t>
            </a:r>
          </a:p>
          <a:p>
            <a:pPr algn="l">
              <a:defRPr sz="1100">
                <a:solidFill>
                  <a:srgbClr val="333333"/>
                </a:solidFill>
                <a:latin typeface="Meiryo"/>
              </a:defRPr>
            </a:pPr>
            <a:r>
              <a:t>3. Amazon TACOS 21.9% → 15%（広告効率改善）</a:t>
            </a:r>
          </a:p>
          <a:p>
            <a:pPr algn="l">
              <a:defRPr sz="1100">
                <a:solidFill>
                  <a:srgbClr val="333333"/>
                </a:solidFill>
                <a:latin typeface="Meiryo"/>
              </a:defRPr>
            </a:pPr>
            <a:r>
              <a:t>4. LINE フルボトル転換率 20%（CRM育成）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成長のフライホイール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一度回り始めると、広告費を増やさなくても成長する</a:t>
            </a:r>
          </a:p>
        </p:txBody>
      </p:sp>
      <p:sp>
        <p:nvSpPr>
          <p:cNvPr id="5" name="Oval 4"/>
          <p:cNvSpPr/>
          <p:nvPr/>
        </p:nvSpPr>
        <p:spPr>
          <a:xfrm>
            <a:off x="4800600" y="3337560"/>
            <a:ext cx="1463040" cy="1463040"/>
          </a:xfrm>
          <a:prstGeom prst="ellipse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rPr dirty="0"/>
              <a:t>LINE</a:t>
            </a:r>
            <a:br>
              <a:rPr dirty="0"/>
            </a:br>
            <a:r>
              <a:rPr dirty="0"/>
              <a:t>(</a:t>
            </a:r>
            <a:r>
              <a:rPr dirty="0" err="1"/>
              <a:t>中心</a:t>
            </a:r>
            <a:r>
              <a:rPr dirty="0"/>
              <a:t>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371600"/>
            <a:ext cx="1554480" cy="9144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各チャネルで</a:t>
            </a:r>
            <a:br/>
            <a:r>
              <a:t>購入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828800"/>
            <a:ext cx="1554480" cy="91440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くじカード</a:t>
            </a:r>
            <a:br/>
            <a:r>
              <a:t>同梱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3657600"/>
            <a:ext cx="1554480" cy="9144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LINE登録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5303520"/>
            <a:ext cx="1554480" cy="914400"/>
          </a:xfrm>
          <a:prstGeom prst="roundRect">
            <a:avLst>
              <a:gd name="adj" fmla="val 5000"/>
            </a:avLst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シナリオ</a:t>
            </a:r>
            <a:br/>
            <a:r>
              <a:t>配信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5760720"/>
            <a:ext cx="1554480" cy="9144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フルボトル</a:t>
            </a:r>
            <a:br/>
            <a:r>
              <a:t>購入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5303520"/>
            <a:ext cx="1554480" cy="914400"/>
          </a:xfrm>
          <a:prstGeom prst="roundRect">
            <a:avLst>
              <a:gd name="adj" fmla="val 5000"/>
            </a:avLst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クロスセル</a:t>
            </a:r>
            <a:br/>
            <a:r>
              <a:t>/レビュー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1554480" cy="91440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CVR↑</a:t>
            </a:r>
            <a:br/>
            <a:r>
              <a:t>全チャネル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1828800"/>
            <a:ext cx="1554480" cy="9144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注文↑</a:t>
            </a:r>
            <a:br/>
            <a:r>
              <a:t>(広告費不変)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487780" y="1737360"/>
            <a:ext cx="457200" cy="2286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ight Arrow 14"/>
          <p:cNvSpPr/>
          <p:nvPr/>
        </p:nvSpPr>
        <p:spPr>
          <a:xfrm>
            <a:off x="3979870" y="1757990"/>
            <a:ext cx="457200" cy="2286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Down Arrow 15"/>
          <p:cNvSpPr/>
          <p:nvPr/>
        </p:nvSpPr>
        <p:spPr>
          <a:xfrm>
            <a:off x="9144000" y="2882033"/>
            <a:ext cx="228600" cy="36576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own Arrow 16"/>
          <p:cNvSpPr/>
          <p:nvPr/>
        </p:nvSpPr>
        <p:spPr>
          <a:xfrm>
            <a:off x="9144000" y="4754880"/>
            <a:ext cx="228600" cy="36576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57200" y="6400800"/>
            <a:ext cx="11247120" cy="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80" y="6400800"/>
            <a:ext cx="640080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"/>
              </a:lnSpc>
              <a:spcAft>
                <a:spcPts val="0"/>
              </a:spcAft>
              <a:defRPr sz="100" b="0">
                <a:solidFill>
                  <a:srgbClr val="333333"/>
                </a:solidFill>
                <a:latin typeface="Meiryo"/>
              </a:defRPr>
            </a:pPr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利益シミュレーション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10ヶ月累計（2026年4月〜2027年1月）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3A7D44"/>
                </a:solidFill>
                <a:latin typeface="Meiryo"/>
              </a:defRPr>
            </a:pPr>
            <a:r>
              <a:t>10ヶ月累計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売上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737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¥57,200,000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粗利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1945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¥16,223,380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60"/>
            <a:ext cx="1828800" cy="3103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E63946"/>
                </a:solidFill>
                <a:latin typeface="Meiryo"/>
              </a:defRPr>
            </a:pPr>
            <a:r>
              <a:rPr lang="ja-JP" altLang="en-US"/>
              <a:t>専任</a:t>
            </a:r>
            <a:r>
              <a:rPr dirty="0" err="1"/>
              <a:t>人件費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2743200" y="2651760"/>
            <a:ext cx="2286000" cy="259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E63946"/>
                </a:solidFill>
                <a:latin typeface="Meiryo"/>
              </a:defRPr>
            </a:pPr>
            <a:r>
              <a:rPr dirty="0"/>
              <a:t>¥</a:t>
            </a:r>
            <a:r>
              <a:rPr lang="en-US" dirty="0"/>
              <a:t>2,0</a:t>
            </a:r>
            <a:r>
              <a:rPr dirty="0"/>
              <a:t>00,000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666666"/>
                </a:solidFill>
                <a:latin typeface="Meiryo"/>
              </a:defRPr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743200" y="3108960"/>
            <a:ext cx="2286000" cy="259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rPr dirty="0"/>
              <a:t>(月</a:t>
            </a:r>
            <a:r>
              <a:rPr lang="en-US" dirty="0"/>
              <a:t>20</a:t>
            </a:r>
            <a:r>
              <a:rPr dirty="0"/>
              <a:t>万x10ヶ月)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493008"/>
            <a:ext cx="4114800" cy="27432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566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営業利益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66160"/>
            <a:ext cx="2286000" cy="3103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rPr dirty="0"/>
              <a:t>¥14,</a:t>
            </a:r>
            <a:r>
              <a:rPr lang="en-US" dirty="0"/>
              <a:t>2</a:t>
            </a:r>
            <a:r>
              <a:rPr dirty="0"/>
              <a:t>23,380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営業利益率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023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25.6%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572000"/>
            <a:ext cx="2286000" cy="9144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>
                <a:solidFill>
                  <a:srgbClr val="CCFFCC"/>
                </a:solidFill>
                <a:latin typeface="Meiryo"/>
              </a:defRPr>
            </a:pPr>
            <a:r>
              <a:t>月平均売上</a:t>
            </a:r>
          </a:p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¥5,720,000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0" y="4572000"/>
            <a:ext cx="2286000" cy="91440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>
                <a:solidFill>
                  <a:srgbClr val="CCFFCC"/>
                </a:solidFill>
                <a:latin typeface="Meiryo"/>
              </a:defRPr>
            </a:pPr>
            <a:r>
              <a:rPr dirty="0" err="1"/>
              <a:t>月平均利益</a:t>
            </a:r>
            <a:endParaRPr dirty="0"/>
          </a:p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rPr dirty="0"/>
              <a:t>¥1,4</a:t>
            </a:r>
            <a:r>
              <a:rPr lang="en-US" dirty="0"/>
              <a:t>2</a:t>
            </a:r>
            <a:r>
              <a:rPr dirty="0"/>
              <a:t>2,338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280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3A7D44"/>
                </a:solidFill>
                <a:latin typeface="Meiryo"/>
              </a:defRPr>
            </a:pPr>
            <a:r>
              <a:t>将来展望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1737360"/>
            <a:ext cx="137160" cy="4572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75120" y="17373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問屋を介さず海外から直接仕入れ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2057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66666"/>
                </a:solidFill>
                <a:latin typeface="Meiryo"/>
              </a:defRPr>
            </a:pPr>
            <a:r>
              <a:t>→ 原価率さらに改善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2468880"/>
            <a:ext cx="137160" cy="4572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75120" y="2468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守殿さん復帰（11月〜）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2788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66666"/>
                </a:solidFill>
                <a:latin typeface="Meiryo"/>
              </a:defRPr>
            </a:pPr>
            <a:r>
              <a:t>→ オペレーション体制強化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200400"/>
            <a:ext cx="137160" cy="457200"/>
          </a:xfrm>
          <a:prstGeom prst="roundRect">
            <a:avLst>
              <a:gd name="adj" fmla="val 5000"/>
            </a:avLst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75120" y="3200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TikTok Shop成長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3520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66666"/>
                </a:solidFill>
                <a:latin typeface="Meiryo"/>
              </a:defRPr>
            </a:pPr>
            <a:r>
              <a:t>→ 広告費不要の販売チャネル拡大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3931920"/>
            <a:ext cx="137160" cy="45720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75120" y="3931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ナイトライト事業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251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66666"/>
                </a:solidFill>
                <a:latin typeface="Meiryo"/>
              </a:defRPr>
            </a:pPr>
            <a:r>
              <a:t>→ 超高利益率の成長ドライバー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4663440"/>
            <a:ext cx="137160" cy="4572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75120" y="4663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LINE CRM成熟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4983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66666"/>
                </a:solidFill>
                <a:latin typeface="Meiryo"/>
              </a:defRPr>
            </a:pPr>
            <a:r>
              <a:t>→ リピーター基盤の確立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218325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3A7D44"/>
                </a:solidFill>
                <a:latin typeface="Meiryo"/>
              </a:defRPr>
            </a:pPr>
            <a:r>
              <a:t>売上構成比（10ヶ月累計）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5538365"/>
            <a:ext cx="3179618" cy="36576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9580418" y="5538365"/>
            <a:ext cx="326018" cy="365760"/>
          </a:xfrm>
          <a:prstGeom prst="roundRect">
            <a:avLst>
              <a:gd name="adj" fmla="val 5000"/>
            </a:avLst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9906436" y="5538365"/>
            <a:ext cx="222645" cy="365760"/>
          </a:xfrm>
          <a:prstGeom prst="roundRect">
            <a:avLst>
              <a:gd name="adj" fmla="val 5000"/>
            </a:avLst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10129082" y="5538365"/>
            <a:ext cx="302855" cy="36576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10431937" y="5538365"/>
            <a:ext cx="91440" cy="36576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400800" y="5995565"/>
            <a:ext cx="182880" cy="13716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629400" y="5968133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60"/>
              </a:lnSpc>
              <a:spcAft>
                <a:spcPts val="0"/>
              </a:spcAft>
              <a:defRPr sz="800" b="0">
                <a:solidFill>
                  <a:srgbClr val="333333"/>
                </a:solidFill>
                <a:latin typeface="Meiryo"/>
              </a:defRPr>
            </a:pPr>
            <a:r>
              <a:t>Amazon 77%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46720" y="5995565"/>
            <a:ext cx="182880" cy="137160"/>
          </a:xfrm>
          <a:prstGeom prst="roundRect">
            <a:avLst>
              <a:gd name="adj" fmla="val 5000"/>
            </a:avLst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75320" y="5968133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60"/>
              </a:lnSpc>
              <a:spcAft>
                <a:spcPts val="0"/>
              </a:spcAft>
              <a:defRPr sz="800" b="0">
                <a:solidFill>
                  <a:srgbClr val="333333"/>
                </a:solidFill>
                <a:latin typeface="Meiryo"/>
              </a:defRPr>
            </a:pPr>
            <a:r>
              <a:t>TikTok 8%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692640" y="5995565"/>
            <a:ext cx="182880" cy="137160"/>
          </a:xfrm>
          <a:prstGeom prst="roundRect">
            <a:avLst>
              <a:gd name="adj" fmla="val 5000"/>
            </a:avLst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875520" y="5970141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60"/>
              </a:lnSpc>
              <a:spcAft>
                <a:spcPts val="0"/>
              </a:spcAft>
              <a:defRPr sz="800" b="0">
                <a:solidFill>
                  <a:srgbClr val="333333"/>
                </a:solidFill>
                <a:latin typeface="Meiryo"/>
              </a:defRPr>
            </a:pPr>
            <a:r>
              <a:rPr dirty="0" err="1"/>
              <a:t>メルカリ</a:t>
            </a:r>
            <a:r>
              <a:rPr dirty="0"/>
              <a:t> 5%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0" y="6224165"/>
            <a:ext cx="182880" cy="13716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629400" y="6196733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60"/>
              </a:lnSpc>
              <a:spcAft>
                <a:spcPts val="0"/>
              </a:spcAft>
              <a:defRPr sz="800" b="0">
                <a:solidFill>
                  <a:srgbClr val="333333"/>
                </a:solidFill>
                <a:latin typeface="Meiryo"/>
              </a:defRPr>
            </a:pPr>
            <a:r>
              <a:t>フルボトル 7%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6720" y="6224165"/>
            <a:ext cx="182880" cy="13716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275320" y="6196733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60"/>
              </a:lnSpc>
              <a:spcAft>
                <a:spcPts val="0"/>
              </a:spcAft>
              <a:defRPr sz="800" b="0">
                <a:solidFill>
                  <a:srgbClr val="333333"/>
                </a:solidFill>
                <a:latin typeface="Meiryo"/>
              </a:defRPr>
            </a:pPr>
            <a:r>
              <a:t>ナイトライト 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ロードマップ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2026年4月〜2027年1月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2103120" cy="54864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2026年4月</a:t>
            </a:r>
            <a:br/>
            <a:r>
              <a:t>（現在）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20240"/>
            <a:ext cx="2103120" cy="347472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2E6B38"/>
                </a:solidFill>
                <a:latin typeface="Meiryo"/>
              </a:defRPr>
            </a:pPr>
            <a:r>
              <a:t>✅ Amazon月間3,500件・1位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2103120" cy="347472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2E6B38"/>
                </a:solidFill>
                <a:latin typeface="Meiryo"/>
              </a:defRPr>
            </a:pPr>
            <a:r>
              <a:t>✅ 自社サイトリニューアル完了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688336"/>
            <a:ext cx="2103120" cy="347472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2E6B38"/>
                </a:solidFill>
                <a:latin typeface="Meiryo"/>
              </a:defRPr>
            </a:pPr>
            <a:r>
              <a:t>✅ AI香水診断稼働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72384"/>
            <a:ext cx="2103120" cy="347472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2E6B38"/>
                </a:solidFill>
                <a:latin typeface="Meiryo"/>
              </a:defRPr>
            </a:pPr>
            <a:r>
              <a:t>✅ LINE CRMシナリオ設計完了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456432"/>
            <a:ext cx="2103120" cy="347472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2E6B38"/>
                </a:solidFill>
                <a:latin typeface="Meiryo"/>
              </a:defRPr>
            </a:pPr>
            <a:r>
              <a:t>★ LINE配信 明日ローンチ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2103120" cy="3474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🔄 TikTok Shop 25件/月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60320" y="1371600"/>
            <a:ext cx="137160" cy="18288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697480" y="1188720"/>
            <a:ext cx="2103120" cy="54864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2026年</a:t>
            </a:r>
            <a:br/>
            <a:r>
              <a:t>5〜6月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7480" y="1920240"/>
            <a:ext cx="2103120" cy="3474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□ TikTok SPS30件→プロモ解放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97480" y="2304288"/>
            <a:ext cx="2103120" cy="3474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□ メルカリShop本格稼働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97480" y="2688336"/>
            <a:ext cx="2103120" cy="3474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□ Threads/Instagram開始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3072384"/>
            <a:ext cx="2103120" cy="3474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□ ナイトライト製作開始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97480" y="3456432"/>
            <a:ext cx="2103120" cy="3474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□ ブログ100本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800600" y="1371600"/>
            <a:ext cx="137160" cy="18288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937760" y="1188720"/>
            <a:ext cx="2103120" cy="5486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2026年</a:t>
            </a:r>
            <a:br/>
            <a:r>
              <a:t>7〜9月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37760" y="1920240"/>
            <a:ext cx="2103120" cy="3474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□ TikTokレビュー50件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37760" y="2304288"/>
            <a:ext cx="2103120" cy="3474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□ メルカリレビュー100件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60" y="2688336"/>
            <a:ext cx="2103120" cy="3474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□ ナイトライト返送加工開始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37760" y="3072384"/>
            <a:ext cx="2103120" cy="3474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□ フルボトル月間¥40-50万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040880" y="1371600"/>
            <a:ext cx="137160" cy="18288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178040" y="1188720"/>
            <a:ext cx="2103120" cy="54864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2026年</a:t>
            </a:r>
            <a:br/>
            <a:r>
              <a:t>10〜12月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78040" y="1920240"/>
            <a:ext cx="2103120" cy="3474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□ TikTok月間1,000件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78040" y="2304288"/>
            <a:ext cx="2103120" cy="3474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□ メルカリ月間750件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78040" y="2688336"/>
            <a:ext cx="2103120" cy="3474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□ 12月ピーク: 月商¥925万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78040" y="3072384"/>
            <a:ext cx="2103120" cy="3474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□ ナイトライト月100個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78040" y="3456432"/>
            <a:ext cx="2103120" cy="3474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□ 11月: 守殿さん復帰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281160" y="1371600"/>
            <a:ext cx="137160" cy="18288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9418320" y="1188720"/>
            <a:ext cx="2103120" cy="5486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2027年</a:t>
            </a:r>
            <a:br/>
            <a:r>
              <a:t>1月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18320" y="1920240"/>
            <a:ext cx="2103120" cy="3474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□ 累計売上¥5,720万達成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18320" y="2304288"/>
            <a:ext cx="2103120" cy="3474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333333"/>
                </a:solidFill>
                <a:latin typeface="Meiryo"/>
              </a:defRPr>
            </a:pPr>
            <a:r>
              <a:t>□ 海外直接仕入れの検討開始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029200"/>
            <a:ext cx="11247120" cy="109728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eiryo"/>
              </a:defRPr>
            </a:pPr>
            <a:r>
              <a:t>10ヶ月で売上¥5,720万・営業利益¥1,462万を目指す</a:t>
            </a:r>
          </a:p>
          <a:p>
            <a:pPr algn="ctr">
              <a:defRPr sz="1400">
                <a:solidFill>
                  <a:srgbClr val="CCFFCC"/>
                </a:solidFill>
                <a:latin typeface="Meiryo"/>
              </a:defRPr>
            </a:pPr>
            <a:r>
              <a:t>Amazon基盤 x TikTok/メルカリ拡大 x LINE CRM育成 x ナイトライト新規事業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2563</Words>
  <Application>Microsoft Macintosh PowerPoint</Application>
  <PresentationFormat>ワイド画面</PresentationFormat>
  <Paragraphs>687</Paragraphs>
  <Slides>20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keito shinomiya</cp:lastModifiedBy>
  <cp:revision>3</cp:revision>
  <dcterms:created xsi:type="dcterms:W3CDTF">2013-01-27T09:14:16Z</dcterms:created>
  <dcterms:modified xsi:type="dcterms:W3CDTF">2026-04-17T00:12:05Z</dcterms:modified>
  <cp:category/>
</cp:coreProperties>
</file>